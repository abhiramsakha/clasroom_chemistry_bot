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4" r:id="rId4"/>
  </p:sldMasterIdLst>
  <p:notesMasterIdLst>
    <p:notesMasterId r:id="rId20"/>
  </p:notesMasterIdLst>
  <p:handoutMasterIdLst>
    <p:handoutMasterId r:id="rId21"/>
  </p:handoutMasterIdLst>
  <p:sldIdLst>
    <p:sldId id="266" r:id="rId5"/>
    <p:sldId id="256" r:id="rId6"/>
    <p:sldId id="267" r:id="rId7"/>
    <p:sldId id="264" r:id="rId8"/>
    <p:sldId id="259" r:id="rId9"/>
    <p:sldId id="269" r:id="rId10"/>
    <p:sldId id="270" r:id="rId11"/>
    <p:sldId id="268" r:id="rId12"/>
    <p:sldId id="265" r:id="rId13"/>
    <p:sldId id="271" r:id="rId14"/>
    <p:sldId id="260" r:id="rId15"/>
    <p:sldId id="272" r:id="rId16"/>
    <p:sldId id="273" r:id="rId17"/>
    <p:sldId id="274" r:id="rId18"/>
    <p:sldId id="27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21A3"/>
    <a:srgbClr val="4738A2"/>
    <a:srgbClr val="120E1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DC552B-C87E-4B2A-9F1B-002997AA3396}" v="13" dt="2025-12-22T04:15:34.940"/>
    <p1510:client id="{6D3D837B-AD48-4425-A8CE-77221EDF4A95}" v="4" dt="2025-12-22T04:17:57.123"/>
    <p1510:client id="{F46C982A-1136-C698-1F7F-87114E8426F5}" v="4" dt="2025-12-22T18:11:08.7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AEF700-9B0B-4359-8356-DCE7EE4E41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B9BF05B-06DB-4EC8-B476-CF95F9BD85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3D6361-1E3C-4214-95E1-B8DE93421F8F}" type="datetimeFigureOut">
              <a:rPr lang="en-US" smtClean="0"/>
              <a:t>1/20/2026</a:t>
            </a:fld>
            <a:endParaRPr lang="en-US"/>
          </a:p>
        </p:txBody>
      </p:sp>
      <p:sp>
        <p:nvSpPr>
          <p:cNvPr id="4" name="Footer Placeholder 3">
            <a:extLst>
              <a:ext uri="{FF2B5EF4-FFF2-40B4-BE49-F238E27FC236}">
                <a16:creationId xmlns:a16="http://schemas.microsoft.com/office/drawing/2014/main" id="{6321952E-79CD-4E03-AAEB-C22680419E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3DCA65F-8548-4E36-8331-FD471638BD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8CE0281-66A0-46B8-BDE2-AEF0C7453753}" type="slidenum">
              <a:rPr lang="en-US" smtClean="0"/>
              <a:t>‹#›</a:t>
            </a:fld>
            <a:endParaRPr lang="en-US"/>
          </a:p>
        </p:txBody>
      </p:sp>
    </p:spTree>
    <p:extLst>
      <p:ext uri="{BB962C8B-B14F-4D97-AF65-F5344CB8AC3E}">
        <p14:creationId xmlns:p14="http://schemas.microsoft.com/office/powerpoint/2010/main" val="655735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F9CFFA-1E2F-4435-8DD6-9B5CC3FF4505}" type="datetimeFigureOut">
              <a:rPr lang="en-US" smtClean="0"/>
              <a:t>1/20/2026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EDED1C-4656-4CF8-AD34-DC4A65BB3913}" type="slidenum">
              <a:rPr lang="en-US" smtClean="0"/>
              <a:t>‹#›</a:t>
            </a:fld>
            <a:endParaRPr lang="en-US"/>
          </a:p>
        </p:txBody>
      </p:sp>
    </p:spTree>
    <p:extLst>
      <p:ext uri="{BB962C8B-B14F-4D97-AF65-F5344CB8AC3E}">
        <p14:creationId xmlns:p14="http://schemas.microsoft.com/office/powerpoint/2010/main" val="3895429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EDED1C-4656-4CF8-AD34-DC4A65BB3913}" type="slidenum">
              <a:rPr lang="en-US" smtClean="0"/>
              <a:t>2</a:t>
            </a:fld>
            <a:endParaRPr lang="en-US"/>
          </a:p>
        </p:txBody>
      </p:sp>
    </p:spTree>
    <p:extLst>
      <p:ext uri="{BB962C8B-B14F-4D97-AF65-F5344CB8AC3E}">
        <p14:creationId xmlns:p14="http://schemas.microsoft.com/office/powerpoint/2010/main" val="2040842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EDED1C-4656-4CF8-AD34-DC4A65BB3913}" type="slidenum">
              <a:rPr lang="en-US" smtClean="0"/>
              <a:t>4</a:t>
            </a:fld>
            <a:endParaRPr lang="en-US"/>
          </a:p>
        </p:txBody>
      </p:sp>
    </p:spTree>
    <p:extLst>
      <p:ext uri="{BB962C8B-B14F-4D97-AF65-F5344CB8AC3E}">
        <p14:creationId xmlns:p14="http://schemas.microsoft.com/office/powerpoint/2010/main" val="643230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EDED1C-4656-4CF8-AD34-DC4A65BB3913}" type="slidenum">
              <a:rPr lang="en-US" smtClean="0"/>
              <a:t>5</a:t>
            </a:fld>
            <a:endParaRPr lang="en-US"/>
          </a:p>
        </p:txBody>
      </p:sp>
    </p:spTree>
    <p:extLst>
      <p:ext uri="{BB962C8B-B14F-4D97-AF65-F5344CB8AC3E}">
        <p14:creationId xmlns:p14="http://schemas.microsoft.com/office/powerpoint/2010/main" val="4707190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EDED1C-4656-4CF8-AD34-DC4A65BB3913}" type="slidenum">
              <a:rPr lang="en-US" smtClean="0"/>
              <a:t>9</a:t>
            </a:fld>
            <a:endParaRPr lang="en-US"/>
          </a:p>
        </p:txBody>
      </p:sp>
    </p:spTree>
    <p:extLst>
      <p:ext uri="{BB962C8B-B14F-4D97-AF65-F5344CB8AC3E}">
        <p14:creationId xmlns:p14="http://schemas.microsoft.com/office/powerpoint/2010/main" val="34530783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EDED1C-4656-4CF8-AD34-DC4A65BB3913}" type="slidenum">
              <a:rPr lang="en-US" smtClean="0"/>
              <a:t>11</a:t>
            </a:fld>
            <a:endParaRPr lang="en-US"/>
          </a:p>
        </p:txBody>
      </p:sp>
    </p:spTree>
    <p:extLst>
      <p:ext uri="{BB962C8B-B14F-4D97-AF65-F5344CB8AC3E}">
        <p14:creationId xmlns:p14="http://schemas.microsoft.com/office/powerpoint/2010/main" val="39291776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9EDED1C-4656-4CF8-AD34-DC4A65BB3913}" type="slidenum">
              <a:rPr lang="en-US" smtClean="0"/>
              <a:t>13</a:t>
            </a:fld>
            <a:endParaRPr lang="en-US"/>
          </a:p>
        </p:txBody>
      </p:sp>
    </p:spTree>
    <p:extLst>
      <p:ext uri="{BB962C8B-B14F-4D97-AF65-F5344CB8AC3E}">
        <p14:creationId xmlns:p14="http://schemas.microsoft.com/office/powerpoint/2010/main" val="3944956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8A87A34-81AB-432B-8DAE-1953F412C126}"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1437056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2195232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689842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8A87A34-81AB-432B-8DAE-1953F412C126}" type="datetimeFigureOut">
              <a:rPr lang="en-US" smtClean="0"/>
              <a:pPr/>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1616547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8A87A34-81AB-432B-8DAE-1953F412C126}" type="datetimeFigureOut">
              <a:rPr lang="en-US" smtClean="0"/>
              <a:pPr/>
              <a:t>1/20/2026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881274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smtClean="0"/>
              <a:t>1/20/2026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09528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636724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3740779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1582230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2549434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27178479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14120637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122220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8978733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422705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19653934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0223638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913775" y="618517"/>
            <a:ext cx="10364451" cy="1596177"/>
          </a:xfrm>
        </p:spPr>
        <p:txBody>
          <a:bodyPr/>
          <a:lstStyle/>
          <a:p>
            <a:r>
              <a:rPr lang="en-US"/>
              <a:t>Click to edit Master title style</a:t>
            </a:r>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8A87A34-81AB-432B-8DAE-1953F412C126}" type="datetimeFigureOut">
              <a:rPr lang="en-US" smtClean="0"/>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081773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8A87A34-81AB-432B-8DAE-1953F412C126}" type="datetimeFigureOut">
              <a:rPr lang="en-US" smtClean="0"/>
              <a:pPr/>
              <a:t>1/20/2026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4086106977"/>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32417-ABB3-2192-15C4-C88CBDAF97A7}"/>
              </a:ext>
            </a:extLst>
          </p:cNvPr>
          <p:cNvSpPr>
            <a:spLocks noGrp="1"/>
          </p:cNvSpPr>
          <p:nvPr>
            <p:ph type="title"/>
          </p:nvPr>
        </p:nvSpPr>
        <p:spPr>
          <a:xfrm>
            <a:off x="913149" y="431704"/>
            <a:ext cx="10364451" cy="1596177"/>
          </a:xfrm>
        </p:spPr>
        <p:txBody>
          <a:bodyPr>
            <a:normAutofit/>
          </a:bodyPr>
          <a:lstStyle/>
          <a:p>
            <a:r>
              <a:rPr lang="en-US" sz="2800" dirty="0">
                <a:solidFill>
                  <a:schemeClr val="tx2"/>
                </a:solidFill>
              </a:rPr>
              <a:t>Kakinada Institute of engineering &amp; technology</a:t>
            </a:r>
            <a:br>
              <a:rPr lang="en-US" sz="2800" dirty="0">
                <a:solidFill>
                  <a:schemeClr val="tx2"/>
                </a:solidFill>
              </a:rPr>
            </a:br>
            <a:r>
              <a:rPr lang="en-US" sz="2400" dirty="0">
                <a:solidFill>
                  <a:schemeClr val="tx2"/>
                </a:solidFill>
              </a:rPr>
              <a:t>department of </a:t>
            </a:r>
            <a:r>
              <a:rPr lang="en-US" sz="2400" dirty="0" err="1">
                <a:solidFill>
                  <a:schemeClr val="tx2"/>
                </a:solidFill>
              </a:rPr>
              <a:t>cse</a:t>
            </a:r>
            <a:r>
              <a:rPr lang="en-US" sz="2400" dirty="0">
                <a:solidFill>
                  <a:schemeClr val="tx2"/>
                </a:solidFill>
              </a:rPr>
              <a:t> – artificial intelligence and data science</a:t>
            </a:r>
            <a:endParaRPr lang="en-IN" sz="2400" dirty="0">
              <a:solidFill>
                <a:schemeClr val="tx2"/>
              </a:solidFill>
            </a:endParaRPr>
          </a:p>
        </p:txBody>
      </p:sp>
      <p:sp>
        <p:nvSpPr>
          <p:cNvPr id="5" name="TextBox 4">
            <a:extLst>
              <a:ext uri="{FF2B5EF4-FFF2-40B4-BE49-F238E27FC236}">
                <a16:creationId xmlns:a16="http://schemas.microsoft.com/office/drawing/2014/main" id="{35BA164C-141C-DB19-0BCB-EFDCCBC35633}"/>
              </a:ext>
            </a:extLst>
          </p:cNvPr>
          <p:cNvSpPr txBox="1"/>
          <p:nvPr/>
        </p:nvSpPr>
        <p:spPr>
          <a:xfrm>
            <a:off x="634854" y="2362955"/>
            <a:ext cx="7045439" cy="923330"/>
          </a:xfrm>
          <a:prstGeom prst="rect">
            <a:avLst/>
          </a:prstGeom>
          <a:noFill/>
        </p:spPr>
        <p:txBody>
          <a:bodyPr wrap="square" rtlCol="0">
            <a:spAutoFit/>
          </a:bodyPr>
          <a:lstStyle/>
          <a:p>
            <a:r>
              <a:rPr lang="en-US" b="1" dirty="0">
                <a:solidFill>
                  <a:schemeClr val="tx2">
                    <a:lumMod val="75000"/>
                  </a:schemeClr>
                </a:solidFill>
                <a:latin typeface="Open Sans" pitchFamily="34" charset="0"/>
                <a:ea typeface="Open Sans" pitchFamily="34" charset="-122"/>
                <a:cs typeface="Open Sans" pitchFamily="34" charset="-120"/>
              </a:rPr>
              <a:t>   Domain-Specific Chemistry Question Answering System</a:t>
            </a:r>
          </a:p>
          <a:p>
            <a:r>
              <a:rPr lang="en-US" b="1" dirty="0">
                <a:solidFill>
                  <a:schemeClr val="tx2">
                    <a:lumMod val="75000"/>
                  </a:schemeClr>
                </a:solidFill>
                <a:latin typeface="Open Sans" pitchFamily="34" charset="0"/>
                <a:ea typeface="Open Sans" pitchFamily="34" charset="-122"/>
                <a:cs typeface="Open Sans" pitchFamily="34" charset="-120"/>
              </a:rPr>
              <a:t>   </a:t>
            </a:r>
          </a:p>
          <a:p>
            <a:r>
              <a:rPr lang="en-US" b="1" dirty="0">
                <a:solidFill>
                  <a:schemeClr val="tx2">
                    <a:lumMod val="75000"/>
                  </a:schemeClr>
                </a:solidFill>
                <a:latin typeface="Open Sans" pitchFamily="34" charset="0"/>
                <a:ea typeface="Open Sans" pitchFamily="34" charset="-122"/>
                <a:cs typeface="Open Sans" pitchFamily="34" charset="-120"/>
              </a:rPr>
              <a:t>    </a:t>
            </a:r>
            <a:r>
              <a:rPr lang="en-US" dirty="0">
                <a:solidFill>
                  <a:srgbClr val="333F70"/>
                </a:solidFill>
                <a:latin typeface="Open Sans" pitchFamily="34" charset="0"/>
                <a:ea typeface="Open Sans" pitchFamily="34" charset="-122"/>
                <a:cs typeface="Open Sans" pitchFamily="34" charset="-120"/>
              </a:rPr>
              <a:t>Using FLAN-T5 &amp; Meta Llama</a:t>
            </a:r>
            <a:endParaRPr lang="en-US" dirty="0"/>
          </a:p>
        </p:txBody>
      </p:sp>
      <p:sp>
        <p:nvSpPr>
          <p:cNvPr id="6" name="TextBox 5">
            <a:extLst>
              <a:ext uri="{FF2B5EF4-FFF2-40B4-BE49-F238E27FC236}">
                <a16:creationId xmlns:a16="http://schemas.microsoft.com/office/drawing/2014/main" id="{9D548F7D-DEB0-4E76-6B0B-17F6D29845AC}"/>
              </a:ext>
            </a:extLst>
          </p:cNvPr>
          <p:cNvSpPr txBox="1"/>
          <p:nvPr/>
        </p:nvSpPr>
        <p:spPr>
          <a:xfrm>
            <a:off x="2638999" y="3478695"/>
            <a:ext cx="3724479" cy="2246769"/>
          </a:xfrm>
          <a:prstGeom prst="rect">
            <a:avLst/>
          </a:prstGeom>
          <a:noFill/>
        </p:spPr>
        <p:txBody>
          <a:bodyPr wrap="square" rtlCol="0">
            <a:spAutoFit/>
          </a:bodyPr>
          <a:lstStyle/>
          <a:p>
            <a:r>
              <a:rPr lang="en-US" sz="2000" b="1" dirty="0">
                <a:latin typeface="Baskerville Old Face" panose="02020602080505020303" pitchFamily="18" charset="0"/>
              </a:rPr>
              <a:t>                </a:t>
            </a:r>
            <a:r>
              <a:rPr lang="en-US" dirty="0">
                <a:latin typeface="Baskerville Old Face" panose="02020602080505020303" pitchFamily="18" charset="0"/>
              </a:rPr>
              <a:t>P</a:t>
            </a:r>
            <a:r>
              <a:rPr lang="en-IN" dirty="0">
                <a:latin typeface="Baskerville Old Face" panose="02020602080505020303" pitchFamily="18" charset="0"/>
              </a:rPr>
              <a:t>RESENTED BY</a:t>
            </a:r>
            <a:endParaRPr lang="en-US" sz="2800" dirty="0"/>
          </a:p>
          <a:p>
            <a:endParaRPr lang="en-US" sz="2000" dirty="0"/>
          </a:p>
          <a:p>
            <a:r>
              <a:rPr lang="en-US" sz="2000" dirty="0"/>
              <a:t>S. ABHIRAM          22B21A4566</a:t>
            </a:r>
            <a:br>
              <a:rPr lang="en-US" sz="2000" dirty="0"/>
            </a:br>
            <a:r>
              <a:rPr lang="en-US" sz="2000" dirty="0"/>
              <a:t>T. SRIVALLI           22B21A4518</a:t>
            </a:r>
          </a:p>
          <a:p>
            <a:r>
              <a:rPr lang="en-US" sz="2000" dirty="0"/>
              <a:t>D. VISHNU            22B21A4569</a:t>
            </a:r>
            <a:br>
              <a:rPr lang="en-US" sz="2000" dirty="0"/>
            </a:br>
            <a:r>
              <a:rPr lang="en-US" sz="2000" dirty="0"/>
              <a:t>V. MANIKANTA       22B21A45B6</a:t>
            </a:r>
            <a:br>
              <a:rPr lang="en-US" sz="2000" dirty="0"/>
            </a:br>
            <a:r>
              <a:rPr lang="en-US" sz="2000" dirty="0"/>
              <a:t>S. AVINASH           22B21A45A0</a:t>
            </a:r>
            <a:endParaRPr lang="en-IN" sz="2000" dirty="0"/>
          </a:p>
        </p:txBody>
      </p:sp>
      <p:sp>
        <p:nvSpPr>
          <p:cNvPr id="9" name="TextBox 8">
            <a:extLst>
              <a:ext uri="{FF2B5EF4-FFF2-40B4-BE49-F238E27FC236}">
                <a16:creationId xmlns:a16="http://schemas.microsoft.com/office/drawing/2014/main" id="{46D8B032-A93D-3892-CCA5-D7D802B5F8C5}"/>
              </a:ext>
            </a:extLst>
          </p:cNvPr>
          <p:cNvSpPr txBox="1"/>
          <p:nvPr/>
        </p:nvSpPr>
        <p:spPr>
          <a:xfrm>
            <a:off x="634854" y="1512355"/>
            <a:ext cx="9111906" cy="707886"/>
          </a:xfrm>
          <a:prstGeom prst="rect">
            <a:avLst/>
          </a:prstGeom>
          <a:noFill/>
        </p:spPr>
        <p:txBody>
          <a:bodyPr wrap="square" rtlCol="0">
            <a:spAutoFit/>
          </a:bodyPr>
          <a:lstStyle/>
          <a:p>
            <a:r>
              <a:rPr lang="en-US" sz="4000" b="1" dirty="0">
                <a:solidFill>
                  <a:srgbClr val="002060"/>
                </a:solidFill>
                <a:latin typeface="Copperplate Gothic Bold" panose="020E0705020206020404" pitchFamily="34" charset="0"/>
                <a:cs typeface="Cascadia Code SemiBold" panose="020B0609020000020004" pitchFamily="49" charset="0"/>
              </a:rPr>
              <a:t>CLASSROOM CHEMISTRY BOT</a:t>
            </a:r>
            <a:endParaRPr lang="en-IN" sz="4000" b="1" dirty="0">
              <a:solidFill>
                <a:srgbClr val="002060"/>
              </a:solidFill>
              <a:latin typeface="Copperplate Gothic Bold" panose="020E0705020206020404" pitchFamily="34" charset="0"/>
              <a:cs typeface="Cascadia Code SemiBold" panose="020B0609020000020004" pitchFamily="49" charset="0"/>
            </a:endParaRPr>
          </a:p>
        </p:txBody>
      </p:sp>
    </p:spTree>
    <p:extLst>
      <p:ext uri="{BB962C8B-B14F-4D97-AF65-F5344CB8AC3E}">
        <p14:creationId xmlns:p14="http://schemas.microsoft.com/office/powerpoint/2010/main" val="2738480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barn(inVertical)">
                                      <p:cBhvr>
                                        <p:cTn id="14" dur="500"/>
                                        <p:tgtEl>
                                          <p:spTgt spid="9">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Effect transition="in" filter="circle(in)">
                                      <p:cBhvr>
                                        <p:cTn id="19" dur="2000"/>
                                        <p:tgtEl>
                                          <p:spTgt spid="5">
                                            <p:txEl>
                                              <p:pRg st="0" end="0"/>
                                            </p:txEl>
                                          </p:spTgt>
                                        </p:tgtEl>
                                      </p:cBhvr>
                                    </p:animEffect>
                                  </p:childTnLst>
                                </p:cTn>
                              </p:par>
                              <p:par>
                                <p:cTn id="20" presetID="6" presetClass="entr" presetSubtype="16" fill="hold" nodeType="with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circle(in)">
                                      <p:cBhvr>
                                        <p:cTn id="22" dur="2000"/>
                                        <p:tgtEl>
                                          <p:spTgt spid="5">
                                            <p:txEl>
                                              <p:pRg st="1" end="1"/>
                                            </p:txEl>
                                          </p:spTgt>
                                        </p:tgtEl>
                                      </p:cBhvr>
                                    </p:animEffect>
                                  </p:childTnLst>
                                </p:cTn>
                              </p:par>
                              <p:par>
                                <p:cTn id="23" presetID="6" presetClass="entr" presetSubtype="16" fill="hold" nodeType="with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Effect transition="in" filter="circle(in)">
                                      <p:cBhvr>
                                        <p:cTn id="25" dur="2000"/>
                                        <p:tgtEl>
                                          <p:spTgt spid="5">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nodeType="clickEffect">
                                  <p:stCondLst>
                                    <p:cond delay="0"/>
                                  </p:stCondLst>
                                  <p:childTnLst>
                                    <p:set>
                                      <p:cBhvr>
                                        <p:cTn id="29" dur="1" fill="hold">
                                          <p:stCondLst>
                                            <p:cond delay="0"/>
                                          </p:stCondLst>
                                        </p:cTn>
                                        <p:tgtEl>
                                          <p:spTgt spid="6">
                                            <p:txEl>
                                              <p:pRg st="0" end="0"/>
                                            </p:txEl>
                                          </p:spTgt>
                                        </p:tgtEl>
                                        <p:attrNameLst>
                                          <p:attrName>style.visibility</p:attrName>
                                        </p:attrNameLst>
                                      </p:cBhvr>
                                      <p:to>
                                        <p:strVal val="visible"/>
                                      </p:to>
                                    </p:set>
                                    <p:animEffect transition="in" filter="wheel(1)">
                                      <p:cBhvr>
                                        <p:cTn id="30" dur="2000"/>
                                        <p:tgtEl>
                                          <p:spTgt spid="6">
                                            <p:txEl>
                                              <p:pRg st="0" end="0"/>
                                            </p:txEl>
                                          </p:spTgt>
                                        </p:tgtEl>
                                      </p:cBhvr>
                                    </p:animEffect>
                                  </p:childTnLst>
                                </p:cTn>
                              </p:par>
                              <p:par>
                                <p:cTn id="31" presetID="21" presetClass="entr" presetSubtype="1" fill="hold" nodeType="withEffect">
                                  <p:stCondLst>
                                    <p:cond delay="0"/>
                                  </p:stCondLst>
                                  <p:childTnLst>
                                    <p:set>
                                      <p:cBhvr>
                                        <p:cTn id="32" dur="1" fill="hold">
                                          <p:stCondLst>
                                            <p:cond delay="0"/>
                                          </p:stCondLst>
                                        </p:cTn>
                                        <p:tgtEl>
                                          <p:spTgt spid="6">
                                            <p:txEl>
                                              <p:pRg st="2" end="2"/>
                                            </p:txEl>
                                          </p:spTgt>
                                        </p:tgtEl>
                                        <p:attrNameLst>
                                          <p:attrName>style.visibility</p:attrName>
                                        </p:attrNameLst>
                                      </p:cBhvr>
                                      <p:to>
                                        <p:strVal val="visible"/>
                                      </p:to>
                                    </p:set>
                                    <p:animEffect transition="in" filter="wheel(1)">
                                      <p:cBhvr>
                                        <p:cTn id="33" dur="2000"/>
                                        <p:tgtEl>
                                          <p:spTgt spid="6">
                                            <p:txEl>
                                              <p:pRg st="2" end="2"/>
                                            </p:txEl>
                                          </p:spTgt>
                                        </p:tgtEl>
                                      </p:cBhvr>
                                    </p:animEffect>
                                  </p:childTnLst>
                                </p:cTn>
                              </p:par>
                              <p:par>
                                <p:cTn id="34" presetID="21" presetClass="entr" presetSubtype="1" fill="hold" nodeType="withEffect">
                                  <p:stCondLst>
                                    <p:cond delay="0"/>
                                  </p:stCondLst>
                                  <p:childTnLst>
                                    <p:set>
                                      <p:cBhvr>
                                        <p:cTn id="35" dur="1" fill="hold">
                                          <p:stCondLst>
                                            <p:cond delay="0"/>
                                          </p:stCondLst>
                                        </p:cTn>
                                        <p:tgtEl>
                                          <p:spTgt spid="6">
                                            <p:txEl>
                                              <p:pRg st="3" end="3"/>
                                            </p:txEl>
                                          </p:spTgt>
                                        </p:tgtEl>
                                        <p:attrNameLst>
                                          <p:attrName>style.visibility</p:attrName>
                                        </p:attrNameLst>
                                      </p:cBhvr>
                                      <p:to>
                                        <p:strVal val="visible"/>
                                      </p:to>
                                    </p:set>
                                    <p:animEffect transition="in" filter="wheel(1)">
                                      <p:cBhvr>
                                        <p:cTn id="36" dur="20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5" name="Picture 4" descr="Petri Dish">
            <a:extLst>
              <a:ext uri="{FF2B5EF4-FFF2-40B4-BE49-F238E27FC236}">
                <a16:creationId xmlns:a16="http://schemas.microsoft.com/office/drawing/2014/main" id="{D16B27C4-A9C2-4AC4-9DD3-88F63F48E83C}"/>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357274" y="10"/>
            <a:ext cx="4834726" cy="6857990"/>
          </a:xfrm>
          <a:prstGeom prst="rect">
            <a:avLst/>
          </a:prstGeom>
        </p:spPr>
      </p:pic>
      <p:sp>
        <p:nvSpPr>
          <p:cNvPr id="7" name="TextBox 6">
            <a:extLst>
              <a:ext uri="{FF2B5EF4-FFF2-40B4-BE49-F238E27FC236}">
                <a16:creationId xmlns:a16="http://schemas.microsoft.com/office/drawing/2014/main" id="{72F67538-E85C-FB4B-C72A-041780010CC8}"/>
              </a:ext>
            </a:extLst>
          </p:cNvPr>
          <p:cNvSpPr txBox="1"/>
          <p:nvPr/>
        </p:nvSpPr>
        <p:spPr>
          <a:xfrm>
            <a:off x="-4" y="795132"/>
            <a:ext cx="7275961" cy="584775"/>
          </a:xfrm>
          <a:prstGeom prst="rect">
            <a:avLst/>
          </a:prstGeom>
          <a:gradFill>
            <a:gsLst>
              <a:gs pos="41000">
                <a:schemeClr val="bg1">
                  <a:tint val="90000"/>
                  <a:lumMod val="110000"/>
                </a:schemeClr>
              </a:gs>
              <a:gs pos="100000">
                <a:schemeClr val="bg1">
                  <a:shade val="64000"/>
                  <a:lumMod val="88000"/>
                </a:schemeClr>
              </a:gs>
            </a:gsLst>
            <a:lin ang="5400000" scaled="0"/>
          </a:gradFill>
        </p:spPr>
        <p:txBody>
          <a:bodyPr wrap="square" rtlCol="0">
            <a:spAutoFit/>
          </a:bodyPr>
          <a:lstStyle/>
          <a:p>
            <a:r>
              <a:rPr lang="en-US" sz="3200" b="1" dirty="0">
                <a:solidFill>
                  <a:schemeClr val="tx2">
                    <a:lumMod val="50000"/>
                  </a:schemeClr>
                </a:solidFill>
                <a:latin typeface="Arial Rounded MT Bold" panose="020F0704030504030204" pitchFamily="34" charset="0"/>
              </a:rPr>
              <a:t>                      CONTENTS</a:t>
            </a:r>
            <a:endParaRPr lang="en-IN" sz="3200" b="1" dirty="0">
              <a:solidFill>
                <a:schemeClr val="tx2">
                  <a:lumMod val="50000"/>
                </a:schemeClr>
              </a:solidFill>
              <a:latin typeface="Arial Rounded MT Bold" panose="020F0704030504030204" pitchFamily="34" charset="0"/>
            </a:endParaRPr>
          </a:p>
        </p:txBody>
      </p:sp>
      <p:sp>
        <p:nvSpPr>
          <p:cNvPr id="8" name="TextBox 7">
            <a:extLst>
              <a:ext uri="{FF2B5EF4-FFF2-40B4-BE49-F238E27FC236}">
                <a16:creationId xmlns:a16="http://schemas.microsoft.com/office/drawing/2014/main" id="{3B852B7C-1F8F-E865-DA6F-9D39E5BEC944}"/>
              </a:ext>
            </a:extLst>
          </p:cNvPr>
          <p:cNvSpPr txBox="1"/>
          <p:nvPr/>
        </p:nvSpPr>
        <p:spPr>
          <a:xfrm>
            <a:off x="2564296" y="1652637"/>
            <a:ext cx="4224130" cy="3416320"/>
          </a:xfrm>
          <a:prstGeom prst="rect">
            <a:avLst/>
          </a:prstGeom>
          <a:noFill/>
        </p:spPr>
        <p:txBody>
          <a:bodyPr wrap="square" rtlCol="0">
            <a:spAutoFit/>
          </a:bodyPr>
          <a:lstStyle/>
          <a:p>
            <a:r>
              <a:rPr lang="en-US" b="1" i="1" dirty="0"/>
              <a:t>1. Abstract</a:t>
            </a:r>
          </a:p>
          <a:p>
            <a:r>
              <a:rPr lang="en-US" b="1" i="1" dirty="0"/>
              <a:t>2. Introduction</a:t>
            </a:r>
          </a:p>
          <a:p>
            <a:r>
              <a:rPr lang="en-US" b="1" i="1" dirty="0"/>
              <a:t>3. Existing System</a:t>
            </a:r>
          </a:p>
          <a:p>
            <a:r>
              <a:rPr lang="en-US" b="1" i="1" dirty="0"/>
              <a:t>4. Proposed System</a:t>
            </a:r>
          </a:p>
          <a:p>
            <a:r>
              <a:rPr lang="en-US" b="1" i="1" dirty="0"/>
              <a:t>5. System Analysis (Software &amp; Hardware Requirements)</a:t>
            </a:r>
          </a:p>
          <a:p>
            <a:r>
              <a:rPr lang="en-US" b="1" i="1" dirty="0"/>
              <a:t>6. System Architecture</a:t>
            </a:r>
          </a:p>
          <a:p>
            <a:r>
              <a:rPr lang="en-US" b="1" i="1" dirty="0"/>
              <a:t>7. Modules of the Project</a:t>
            </a:r>
          </a:p>
          <a:p>
            <a:r>
              <a:rPr lang="en-US" b="1" i="1" dirty="0"/>
              <a:t>8. UML Diagrams</a:t>
            </a:r>
          </a:p>
          <a:p>
            <a:r>
              <a:rPr lang="en-US" b="1" i="1" dirty="0"/>
              <a:t>9. Input &amp; Output Screens</a:t>
            </a:r>
          </a:p>
          <a:p>
            <a:r>
              <a:rPr lang="en-US" b="1" i="1" dirty="0"/>
              <a:t>10. Conclusion</a:t>
            </a:r>
          </a:p>
          <a:p>
            <a:r>
              <a:rPr lang="en-US" b="1" i="1" dirty="0"/>
              <a:t>11. Future Scope</a:t>
            </a:r>
            <a:endParaRPr lang="en-US" b="1" dirty="0"/>
          </a:p>
        </p:txBody>
      </p:sp>
    </p:spTree>
    <p:extLst>
      <p:ext uri="{BB962C8B-B14F-4D97-AF65-F5344CB8AC3E}">
        <p14:creationId xmlns:p14="http://schemas.microsoft.com/office/powerpoint/2010/main" val="264202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randombar(horizontal)">
                                      <p:cBhvr>
                                        <p:cTn id="14" dur="500"/>
                                        <p:tgtEl>
                                          <p:spTgt spid="8">
                                            <p:txEl>
                                              <p:pRg st="0" end="0"/>
                                            </p:txEl>
                                          </p:spTgt>
                                        </p:tgtEl>
                                      </p:cBhvr>
                                    </p:animEffect>
                                  </p:childTnLst>
                                </p:cTn>
                              </p:par>
                              <p:par>
                                <p:cTn id="15" presetID="14" presetClass="entr" presetSubtype="10" fill="hold" nodeType="with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randombar(horizontal)">
                                      <p:cBhvr>
                                        <p:cTn id="17" dur="500"/>
                                        <p:tgtEl>
                                          <p:spTgt spid="8">
                                            <p:txEl>
                                              <p:pRg st="1" end="1"/>
                                            </p:txEl>
                                          </p:spTgt>
                                        </p:tgtEl>
                                      </p:cBhvr>
                                    </p:animEffect>
                                  </p:childTnLst>
                                </p:cTn>
                              </p:par>
                              <p:par>
                                <p:cTn id="18" presetID="14" presetClass="entr" presetSubtype="10" fill="hold" nodeType="withEffect">
                                  <p:stCondLst>
                                    <p:cond delay="0"/>
                                  </p:stCondLst>
                                  <p:childTnLst>
                                    <p:set>
                                      <p:cBhvr>
                                        <p:cTn id="19" dur="1" fill="hold">
                                          <p:stCondLst>
                                            <p:cond delay="0"/>
                                          </p:stCondLst>
                                        </p:cTn>
                                        <p:tgtEl>
                                          <p:spTgt spid="8">
                                            <p:txEl>
                                              <p:pRg st="2" end="2"/>
                                            </p:txEl>
                                          </p:spTgt>
                                        </p:tgtEl>
                                        <p:attrNameLst>
                                          <p:attrName>style.visibility</p:attrName>
                                        </p:attrNameLst>
                                      </p:cBhvr>
                                      <p:to>
                                        <p:strVal val="visible"/>
                                      </p:to>
                                    </p:set>
                                    <p:animEffect transition="in" filter="randombar(horizontal)">
                                      <p:cBhvr>
                                        <p:cTn id="20" dur="500"/>
                                        <p:tgtEl>
                                          <p:spTgt spid="8">
                                            <p:txEl>
                                              <p:pRg st="2" end="2"/>
                                            </p:txEl>
                                          </p:spTgt>
                                        </p:tgtEl>
                                      </p:cBhvr>
                                    </p:animEffect>
                                  </p:childTnLst>
                                </p:cTn>
                              </p:par>
                              <p:par>
                                <p:cTn id="21" presetID="14" presetClass="entr" presetSubtype="10" fill="hold" nodeType="with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animEffect transition="in" filter="randombar(horizontal)">
                                      <p:cBhvr>
                                        <p:cTn id="23" dur="500"/>
                                        <p:tgtEl>
                                          <p:spTgt spid="8">
                                            <p:txEl>
                                              <p:pRg st="3" end="3"/>
                                            </p:txEl>
                                          </p:spTgt>
                                        </p:tgtEl>
                                      </p:cBhvr>
                                    </p:animEffect>
                                  </p:childTnLst>
                                </p:cTn>
                              </p:par>
                              <p:par>
                                <p:cTn id="24" presetID="14" presetClass="entr" presetSubtype="10" fill="hold" nodeType="with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randombar(horizontal)">
                                      <p:cBhvr>
                                        <p:cTn id="26" dur="500"/>
                                        <p:tgtEl>
                                          <p:spTgt spid="8">
                                            <p:txEl>
                                              <p:pRg st="4" end="4"/>
                                            </p:txEl>
                                          </p:spTgt>
                                        </p:tgtEl>
                                      </p:cBhvr>
                                    </p:animEffect>
                                  </p:childTnLst>
                                </p:cTn>
                              </p:par>
                              <p:par>
                                <p:cTn id="27" presetID="14" presetClass="entr" presetSubtype="10" fill="hold" nodeType="withEffect">
                                  <p:stCondLst>
                                    <p:cond delay="0"/>
                                  </p:stCondLst>
                                  <p:childTnLst>
                                    <p:set>
                                      <p:cBhvr>
                                        <p:cTn id="28" dur="1" fill="hold">
                                          <p:stCondLst>
                                            <p:cond delay="0"/>
                                          </p:stCondLst>
                                        </p:cTn>
                                        <p:tgtEl>
                                          <p:spTgt spid="8">
                                            <p:txEl>
                                              <p:pRg st="5" end="5"/>
                                            </p:txEl>
                                          </p:spTgt>
                                        </p:tgtEl>
                                        <p:attrNameLst>
                                          <p:attrName>style.visibility</p:attrName>
                                        </p:attrNameLst>
                                      </p:cBhvr>
                                      <p:to>
                                        <p:strVal val="visible"/>
                                      </p:to>
                                    </p:set>
                                    <p:animEffect transition="in" filter="randombar(horizontal)">
                                      <p:cBhvr>
                                        <p:cTn id="29" dur="500"/>
                                        <p:tgtEl>
                                          <p:spTgt spid="8">
                                            <p:txEl>
                                              <p:pRg st="5" end="5"/>
                                            </p:txEl>
                                          </p:spTgt>
                                        </p:tgtEl>
                                      </p:cBhvr>
                                    </p:animEffect>
                                  </p:childTnLst>
                                </p:cTn>
                              </p:par>
                              <p:par>
                                <p:cTn id="30" presetID="14" presetClass="entr" presetSubtype="10" fill="hold" nodeType="withEffect">
                                  <p:stCondLst>
                                    <p:cond delay="0"/>
                                  </p:stCondLst>
                                  <p:childTnLst>
                                    <p:set>
                                      <p:cBhvr>
                                        <p:cTn id="31" dur="1" fill="hold">
                                          <p:stCondLst>
                                            <p:cond delay="0"/>
                                          </p:stCondLst>
                                        </p:cTn>
                                        <p:tgtEl>
                                          <p:spTgt spid="8">
                                            <p:txEl>
                                              <p:pRg st="6" end="6"/>
                                            </p:txEl>
                                          </p:spTgt>
                                        </p:tgtEl>
                                        <p:attrNameLst>
                                          <p:attrName>style.visibility</p:attrName>
                                        </p:attrNameLst>
                                      </p:cBhvr>
                                      <p:to>
                                        <p:strVal val="visible"/>
                                      </p:to>
                                    </p:set>
                                    <p:animEffect transition="in" filter="randombar(horizontal)">
                                      <p:cBhvr>
                                        <p:cTn id="32" dur="500"/>
                                        <p:tgtEl>
                                          <p:spTgt spid="8">
                                            <p:txEl>
                                              <p:pRg st="6" end="6"/>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animEffect transition="in" filter="randombar(horizontal)">
                                      <p:cBhvr>
                                        <p:cTn id="35" dur="500"/>
                                        <p:tgtEl>
                                          <p:spTgt spid="8">
                                            <p:txEl>
                                              <p:pRg st="7" end="7"/>
                                            </p:txEl>
                                          </p:spTgt>
                                        </p:tgtEl>
                                      </p:cBhvr>
                                    </p:animEffect>
                                  </p:childTnLst>
                                </p:cTn>
                              </p:par>
                              <p:par>
                                <p:cTn id="36" presetID="14" presetClass="entr" presetSubtype="10" fill="hold" nodeType="withEffect">
                                  <p:stCondLst>
                                    <p:cond delay="0"/>
                                  </p:stCondLst>
                                  <p:childTnLst>
                                    <p:set>
                                      <p:cBhvr>
                                        <p:cTn id="37" dur="1" fill="hold">
                                          <p:stCondLst>
                                            <p:cond delay="0"/>
                                          </p:stCondLst>
                                        </p:cTn>
                                        <p:tgtEl>
                                          <p:spTgt spid="8">
                                            <p:txEl>
                                              <p:pRg st="8" end="8"/>
                                            </p:txEl>
                                          </p:spTgt>
                                        </p:tgtEl>
                                        <p:attrNameLst>
                                          <p:attrName>style.visibility</p:attrName>
                                        </p:attrNameLst>
                                      </p:cBhvr>
                                      <p:to>
                                        <p:strVal val="visible"/>
                                      </p:to>
                                    </p:set>
                                    <p:animEffect transition="in" filter="randombar(horizontal)">
                                      <p:cBhvr>
                                        <p:cTn id="38" dur="500"/>
                                        <p:tgtEl>
                                          <p:spTgt spid="8">
                                            <p:txEl>
                                              <p:pRg st="8" end="8"/>
                                            </p:txEl>
                                          </p:spTgt>
                                        </p:tgtEl>
                                      </p:cBhvr>
                                    </p:animEffect>
                                  </p:childTnLst>
                                </p:cTn>
                              </p:par>
                              <p:par>
                                <p:cTn id="39" presetID="14" presetClass="entr" presetSubtype="10" fill="hold" nodeType="withEffect">
                                  <p:stCondLst>
                                    <p:cond delay="0"/>
                                  </p:stCondLst>
                                  <p:childTnLst>
                                    <p:set>
                                      <p:cBhvr>
                                        <p:cTn id="40" dur="1" fill="hold">
                                          <p:stCondLst>
                                            <p:cond delay="0"/>
                                          </p:stCondLst>
                                        </p:cTn>
                                        <p:tgtEl>
                                          <p:spTgt spid="8">
                                            <p:txEl>
                                              <p:pRg st="9" end="9"/>
                                            </p:txEl>
                                          </p:spTgt>
                                        </p:tgtEl>
                                        <p:attrNameLst>
                                          <p:attrName>style.visibility</p:attrName>
                                        </p:attrNameLst>
                                      </p:cBhvr>
                                      <p:to>
                                        <p:strVal val="visible"/>
                                      </p:to>
                                    </p:set>
                                    <p:animEffect transition="in" filter="randombar(horizontal)">
                                      <p:cBhvr>
                                        <p:cTn id="41" dur="500"/>
                                        <p:tgtEl>
                                          <p:spTgt spid="8">
                                            <p:txEl>
                                              <p:pRg st="9" end="9"/>
                                            </p:txEl>
                                          </p:spTgt>
                                        </p:tgtEl>
                                      </p:cBhvr>
                                    </p:animEffect>
                                  </p:childTnLst>
                                </p:cTn>
                              </p:par>
                              <p:par>
                                <p:cTn id="42" presetID="14" presetClass="entr" presetSubtype="10" fill="hold" nodeType="withEffect">
                                  <p:stCondLst>
                                    <p:cond delay="0"/>
                                  </p:stCondLst>
                                  <p:childTnLst>
                                    <p:set>
                                      <p:cBhvr>
                                        <p:cTn id="43" dur="1" fill="hold">
                                          <p:stCondLst>
                                            <p:cond delay="0"/>
                                          </p:stCondLst>
                                        </p:cTn>
                                        <p:tgtEl>
                                          <p:spTgt spid="8">
                                            <p:txEl>
                                              <p:pRg st="10" end="10"/>
                                            </p:txEl>
                                          </p:spTgt>
                                        </p:tgtEl>
                                        <p:attrNameLst>
                                          <p:attrName>style.visibility</p:attrName>
                                        </p:attrNameLst>
                                      </p:cBhvr>
                                      <p:to>
                                        <p:strVal val="visible"/>
                                      </p:to>
                                    </p:set>
                                    <p:animEffect transition="in" filter="randombar(horizontal)">
                                      <p:cBhvr>
                                        <p:cTn id="44" dur="500"/>
                                        <p:tgtEl>
                                          <p:spTgt spid="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70895EB-59A5-891E-059A-084A50903339}"/>
              </a:ext>
            </a:extLst>
          </p:cNvPr>
          <p:cNvSpPr txBox="1"/>
          <p:nvPr/>
        </p:nvSpPr>
        <p:spPr>
          <a:xfrm>
            <a:off x="1630017" y="468747"/>
            <a:ext cx="7090270" cy="830997"/>
          </a:xfrm>
          <a:prstGeom prst="rect">
            <a:avLst/>
          </a:prstGeom>
          <a:noFill/>
          <a:ln>
            <a:noFill/>
          </a:ln>
          <a:effectLst>
            <a:outerShdw blurRad="50800" dist="38100" dir="13500000" algn="br" rotWithShape="0">
              <a:prstClr val="black">
                <a:alpha val="40000"/>
              </a:prstClr>
            </a:outerShdw>
          </a:effectLst>
        </p:spPr>
        <p:txBody>
          <a:bodyPr wrap="square" rtlCol="0">
            <a:spAutoFit/>
          </a:bodyPr>
          <a:lstStyle/>
          <a:p>
            <a:r>
              <a:rPr lang="en-US" sz="4800" b="1" dirty="0">
                <a:solidFill>
                  <a:srgbClr val="333F70"/>
                </a:solidFill>
                <a:latin typeface="Unbounded Bold" pitchFamily="34" charset="0"/>
                <a:ea typeface="Unbounded Bold" pitchFamily="34" charset="-122"/>
                <a:cs typeface="Unbounded Bold" pitchFamily="34" charset="-120"/>
              </a:rPr>
              <a:t>Advancing Chemistry QA</a:t>
            </a:r>
            <a:endParaRPr lang="en-IN" sz="4800" dirty="0"/>
          </a:p>
        </p:txBody>
      </p:sp>
      <p:sp>
        <p:nvSpPr>
          <p:cNvPr id="6" name="TextBox 5">
            <a:extLst>
              <a:ext uri="{FF2B5EF4-FFF2-40B4-BE49-F238E27FC236}">
                <a16:creationId xmlns:a16="http://schemas.microsoft.com/office/drawing/2014/main" id="{154D537A-1371-70C2-7FCD-57E9DBC3E572}"/>
              </a:ext>
            </a:extLst>
          </p:cNvPr>
          <p:cNvSpPr txBox="1"/>
          <p:nvPr/>
        </p:nvSpPr>
        <p:spPr>
          <a:xfrm>
            <a:off x="1083365" y="1679713"/>
            <a:ext cx="8348870" cy="1200329"/>
          </a:xfrm>
          <a:prstGeom prst="rect">
            <a:avLst/>
          </a:prstGeom>
          <a:noFill/>
        </p:spPr>
        <p:txBody>
          <a:bodyPr wrap="square" rtlCol="0">
            <a:spAutoFit/>
          </a:bodyPr>
          <a:lstStyle/>
          <a:p>
            <a:r>
              <a:rPr lang="en-US" dirty="0">
                <a:solidFill>
                  <a:srgbClr val="333F70"/>
                </a:solidFill>
                <a:latin typeface="Open Sans" pitchFamily="34" charset="0"/>
                <a:ea typeface="Open Sans" pitchFamily="34" charset="-122"/>
                <a:cs typeface="Open Sans" pitchFamily="34" charset="-120"/>
              </a:rPr>
              <a:t>Our project focuses on creating a </a:t>
            </a:r>
            <a:r>
              <a:rPr lang="en-US" dirty="0">
                <a:solidFill>
                  <a:srgbClr val="26A688"/>
                </a:solidFill>
                <a:latin typeface="Open Sans" pitchFamily="34" charset="0"/>
                <a:ea typeface="Open Sans" pitchFamily="34" charset="-122"/>
                <a:cs typeface="Open Sans" pitchFamily="34" charset="-120"/>
              </a:rPr>
              <a:t>Domain-Specific Chemistry Question Answering System</a:t>
            </a:r>
            <a:r>
              <a:rPr lang="en-US" dirty="0">
                <a:solidFill>
                  <a:srgbClr val="333F70"/>
                </a:solidFill>
                <a:latin typeface="Open Sans" pitchFamily="34" charset="0"/>
                <a:ea typeface="Open Sans" pitchFamily="34" charset="-122"/>
                <a:cs typeface="Open Sans" pitchFamily="34" charset="-120"/>
              </a:rPr>
              <a:t> designed to accurately interpret and respond to complex chemical queries.</a:t>
            </a:r>
            <a:endParaRPr lang="en-US" dirty="0"/>
          </a:p>
          <a:p>
            <a:endParaRPr lang="en-IN" dirty="0"/>
          </a:p>
        </p:txBody>
      </p:sp>
      <p:sp>
        <p:nvSpPr>
          <p:cNvPr id="7" name="TextBox 6">
            <a:extLst>
              <a:ext uri="{FF2B5EF4-FFF2-40B4-BE49-F238E27FC236}">
                <a16:creationId xmlns:a16="http://schemas.microsoft.com/office/drawing/2014/main" id="{FBBC66EF-9496-0C32-3F5E-2D50A85B0036}"/>
              </a:ext>
            </a:extLst>
          </p:cNvPr>
          <p:cNvSpPr txBox="1"/>
          <p:nvPr/>
        </p:nvSpPr>
        <p:spPr>
          <a:xfrm>
            <a:off x="1212574" y="2782957"/>
            <a:ext cx="8050696" cy="892552"/>
          </a:xfrm>
          <a:prstGeom prst="rect">
            <a:avLst/>
          </a:prstGeom>
          <a:noFill/>
        </p:spPr>
        <p:txBody>
          <a:bodyPr wrap="square" rtlCol="0">
            <a:spAutoFit/>
          </a:bodyPr>
          <a:lstStyle/>
          <a:p>
            <a:r>
              <a:rPr lang="en-US" sz="2000" b="1" dirty="0">
                <a:solidFill>
                  <a:srgbClr val="333F70"/>
                </a:solidFill>
                <a:latin typeface="Unbounded Bold" pitchFamily="34" charset="0"/>
                <a:ea typeface="Unbounded Bold" pitchFamily="34" charset="-122"/>
                <a:cs typeface="Unbounded Bold" pitchFamily="34" charset="-120"/>
              </a:rPr>
              <a:t>Transformer-based AI </a:t>
            </a:r>
            <a:r>
              <a:rPr lang="en-US" b="1" dirty="0">
                <a:solidFill>
                  <a:srgbClr val="333F70"/>
                </a:solidFill>
                <a:latin typeface="Unbounded Bold" pitchFamily="34" charset="0"/>
                <a:ea typeface="Unbounded Bold" pitchFamily="34" charset="-122"/>
                <a:cs typeface="Unbounded Bold" pitchFamily="34" charset="-120"/>
              </a:rPr>
              <a:t>:</a:t>
            </a:r>
          </a:p>
          <a:p>
            <a:r>
              <a:rPr lang="en-US" sz="1600" b="1" dirty="0">
                <a:solidFill>
                  <a:schemeClr val="tx2">
                    <a:lumMod val="50000"/>
                  </a:schemeClr>
                </a:solidFill>
                <a:latin typeface="Unbounded Bold" pitchFamily="34" charset="0"/>
                <a:ea typeface="Unbounded Bold" pitchFamily="34" charset="-122"/>
              </a:rPr>
              <a:t>              </a:t>
            </a:r>
            <a:r>
              <a:rPr lang="en-US" sz="1600" dirty="0">
                <a:solidFill>
                  <a:schemeClr val="tx2">
                    <a:lumMod val="50000"/>
                  </a:schemeClr>
                </a:solidFill>
                <a:latin typeface="Open Sans" pitchFamily="34" charset="0"/>
                <a:ea typeface="Open Sans" pitchFamily="34" charset="-122"/>
                <a:cs typeface="Open Sans" pitchFamily="34" charset="-120"/>
              </a:rPr>
              <a:t>Utilizing cutting-edge models like </a:t>
            </a:r>
            <a:r>
              <a:rPr lang="en-US" sz="1600" b="1" dirty="0">
                <a:solidFill>
                  <a:schemeClr val="tx2">
                    <a:lumMod val="50000"/>
                  </a:schemeClr>
                </a:solidFill>
                <a:latin typeface="Open Sans" pitchFamily="34" charset="0"/>
                <a:ea typeface="Open Sans" pitchFamily="34" charset="-122"/>
                <a:cs typeface="Open Sans" pitchFamily="34" charset="-120"/>
              </a:rPr>
              <a:t>FLAN-T5</a:t>
            </a:r>
            <a:r>
              <a:rPr lang="en-US" sz="1600" dirty="0">
                <a:solidFill>
                  <a:schemeClr val="tx2">
                    <a:lumMod val="50000"/>
                  </a:schemeClr>
                </a:solidFill>
                <a:latin typeface="Open Sans" pitchFamily="34" charset="0"/>
                <a:ea typeface="Open Sans" pitchFamily="34" charset="-122"/>
                <a:cs typeface="Open Sans" pitchFamily="34" charset="-120"/>
              </a:rPr>
              <a:t> and </a:t>
            </a:r>
            <a:r>
              <a:rPr lang="en-US" sz="1600" b="1" dirty="0">
                <a:solidFill>
                  <a:schemeClr val="tx2">
                    <a:lumMod val="50000"/>
                  </a:schemeClr>
                </a:solidFill>
                <a:latin typeface="Open Sans" pitchFamily="34" charset="0"/>
                <a:ea typeface="Open Sans" pitchFamily="34" charset="-122"/>
                <a:cs typeface="Open Sans" pitchFamily="34" charset="-120"/>
              </a:rPr>
              <a:t>Meta Llama</a:t>
            </a:r>
            <a:r>
              <a:rPr lang="en-US" sz="1600" dirty="0">
                <a:solidFill>
                  <a:schemeClr val="tx2">
                    <a:lumMod val="50000"/>
                  </a:schemeClr>
                </a:solidFill>
                <a:latin typeface="Open Sans" pitchFamily="34" charset="0"/>
                <a:ea typeface="Open Sans" pitchFamily="34" charset="-122"/>
                <a:cs typeface="Open Sans" pitchFamily="34" charset="-120"/>
              </a:rPr>
              <a:t> for robust language understanding.</a:t>
            </a:r>
            <a:endParaRPr lang="en-US" sz="1600" dirty="0">
              <a:solidFill>
                <a:schemeClr val="tx2">
                  <a:lumMod val="50000"/>
                </a:schemeClr>
              </a:solidFill>
            </a:endParaRPr>
          </a:p>
        </p:txBody>
      </p:sp>
      <p:sp>
        <p:nvSpPr>
          <p:cNvPr id="8" name="TextBox 7">
            <a:extLst>
              <a:ext uri="{FF2B5EF4-FFF2-40B4-BE49-F238E27FC236}">
                <a16:creationId xmlns:a16="http://schemas.microsoft.com/office/drawing/2014/main" id="{87D146DA-7B19-211B-B69B-C5F5E64D6A1D}"/>
              </a:ext>
            </a:extLst>
          </p:cNvPr>
          <p:cNvSpPr txBox="1"/>
          <p:nvPr/>
        </p:nvSpPr>
        <p:spPr>
          <a:xfrm>
            <a:off x="1212574" y="3886201"/>
            <a:ext cx="7841974" cy="892552"/>
          </a:xfrm>
          <a:prstGeom prst="rect">
            <a:avLst/>
          </a:prstGeom>
          <a:noFill/>
        </p:spPr>
        <p:txBody>
          <a:bodyPr wrap="square" rtlCol="0">
            <a:spAutoFit/>
          </a:bodyPr>
          <a:lstStyle/>
          <a:p>
            <a:r>
              <a:rPr lang="en-US" sz="2000" b="1" dirty="0">
                <a:solidFill>
                  <a:srgbClr val="333F70"/>
                </a:solidFill>
                <a:latin typeface="Unbounded Bold" pitchFamily="34" charset="0"/>
                <a:ea typeface="Unbounded Bold" pitchFamily="34" charset="-122"/>
                <a:cs typeface="Unbounded Bold" pitchFamily="34" charset="-120"/>
              </a:rPr>
              <a:t>Specialized Fine-Tuning :</a:t>
            </a:r>
          </a:p>
          <a:p>
            <a:r>
              <a:rPr lang="en-IN" sz="1600" dirty="0">
                <a:solidFill>
                  <a:schemeClr val="tx2">
                    <a:lumMod val="50000"/>
                  </a:schemeClr>
                </a:solidFill>
              </a:rPr>
              <a:t>         </a:t>
            </a:r>
            <a:r>
              <a:rPr lang="en-US" sz="1600" dirty="0">
                <a:solidFill>
                  <a:schemeClr val="tx2">
                    <a:lumMod val="50000"/>
                  </a:schemeClr>
                </a:solidFill>
                <a:latin typeface="Open Sans" pitchFamily="34" charset="0"/>
                <a:ea typeface="Open Sans" pitchFamily="34" charset="-122"/>
                <a:cs typeface="Open Sans" pitchFamily="34" charset="-120"/>
              </a:rPr>
              <a:t>Leveraging diverse chemistry datasets from </a:t>
            </a:r>
            <a:r>
              <a:rPr lang="en-US" sz="1600" b="1" dirty="0">
                <a:solidFill>
                  <a:schemeClr val="tx2">
                    <a:lumMod val="50000"/>
                  </a:schemeClr>
                </a:solidFill>
                <a:latin typeface="Open Sans" pitchFamily="34" charset="0"/>
                <a:ea typeface="Open Sans" pitchFamily="34" charset="-122"/>
                <a:cs typeface="Open Sans" pitchFamily="34" charset="-120"/>
              </a:rPr>
              <a:t>Hugging Face</a:t>
            </a:r>
            <a:r>
              <a:rPr lang="en-US" sz="1600" dirty="0">
                <a:solidFill>
                  <a:schemeClr val="tx2">
                    <a:lumMod val="50000"/>
                  </a:schemeClr>
                </a:solidFill>
                <a:latin typeface="Open Sans" pitchFamily="34" charset="0"/>
                <a:ea typeface="Open Sans" pitchFamily="34" charset="-122"/>
                <a:cs typeface="Open Sans" pitchFamily="34" charset="-120"/>
              </a:rPr>
              <a:t> to enhance domain-specific knowledge and performance.</a:t>
            </a:r>
            <a:endParaRPr lang="en-US" sz="1600" dirty="0">
              <a:solidFill>
                <a:schemeClr val="tx2">
                  <a:lumMod val="50000"/>
                </a:schemeClr>
              </a:solidFill>
            </a:endParaRPr>
          </a:p>
        </p:txBody>
      </p:sp>
    </p:spTree>
    <p:extLst>
      <p:ext uri="{BB962C8B-B14F-4D97-AF65-F5344CB8AC3E}">
        <p14:creationId xmlns:p14="http://schemas.microsoft.com/office/powerpoint/2010/main" val="1772985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Effect transition="in" filter="wipe(down)">
                                      <p:cBhvr>
                                        <p:cTn id="13" dur="500"/>
                                        <p:tgtEl>
                                          <p:spTgt spid="6">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circle(in)">
                                      <p:cBhvr>
                                        <p:cTn id="18" dur="2000"/>
                                        <p:tgtEl>
                                          <p:spTgt spid="7">
                                            <p:txEl>
                                              <p:pRg st="0" end="0"/>
                                            </p:txEl>
                                          </p:spTgt>
                                        </p:tgtEl>
                                      </p:cBhvr>
                                    </p:animEffect>
                                  </p:childTnLst>
                                </p:cTn>
                              </p:par>
                              <p:par>
                                <p:cTn id="19" presetID="6" presetClass="entr" presetSubtype="16" fill="hold" nodeType="with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circle(in)">
                                      <p:cBhvr>
                                        <p:cTn id="21" dur="2000"/>
                                        <p:tgtEl>
                                          <p:spTgt spid="7">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8">
                                            <p:txEl>
                                              <p:pRg st="0" end="0"/>
                                            </p:txEl>
                                          </p:spTgt>
                                        </p:tgtEl>
                                        <p:attrNameLst>
                                          <p:attrName>style.visibility</p:attrName>
                                        </p:attrNameLst>
                                      </p:cBhvr>
                                      <p:to>
                                        <p:strVal val="visible"/>
                                      </p:to>
                                    </p:set>
                                    <p:anim calcmode="lin" valueType="num">
                                      <p:cBhvr>
                                        <p:cTn id="26"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27" dur="5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28" dur="500"/>
                                        <p:tgtEl>
                                          <p:spTgt spid="8">
                                            <p:txEl>
                                              <p:pRg st="0" end="0"/>
                                            </p:txEl>
                                          </p:spTgt>
                                        </p:tgtEl>
                                      </p:cBhvr>
                                    </p:animEffect>
                                  </p:childTnLst>
                                </p:cTn>
                              </p:par>
                              <p:par>
                                <p:cTn id="29" presetID="53" presetClass="entr" presetSubtype="16" fill="hold" nodeType="withEffect">
                                  <p:stCondLst>
                                    <p:cond delay="0"/>
                                  </p:stCondLst>
                                  <p:childTnLst>
                                    <p:set>
                                      <p:cBhvr>
                                        <p:cTn id="30" dur="1" fill="hold">
                                          <p:stCondLst>
                                            <p:cond delay="0"/>
                                          </p:stCondLst>
                                        </p:cTn>
                                        <p:tgtEl>
                                          <p:spTgt spid="8">
                                            <p:txEl>
                                              <p:pRg st="1" end="1"/>
                                            </p:txEl>
                                          </p:spTgt>
                                        </p:tgtEl>
                                        <p:attrNameLst>
                                          <p:attrName>style.visibility</p:attrName>
                                        </p:attrNameLst>
                                      </p:cBhvr>
                                      <p:to>
                                        <p:strVal val="visible"/>
                                      </p:to>
                                    </p:set>
                                    <p:anim calcmode="lin" valueType="num">
                                      <p:cBhvr>
                                        <p:cTn id="31" dur="500" fill="hold"/>
                                        <p:tgtEl>
                                          <p:spTgt spid="8">
                                            <p:txEl>
                                              <p:pRg st="1" end="1"/>
                                            </p:txEl>
                                          </p:spTgt>
                                        </p:tgtEl>
                                        <p:attrNameLst>
                                          <p:attrName>ppt_w</p:attrName>
                                        </p:attrNameLst>
                                      </p:cBhvr>
                                      <p:tavLst>
                                        <p:tav tm="0">
                                          <p:val>
                                            <p:fltVal val="0"/>
                                          </p:val>
                                        </p:tav>
                                        <p:tav tm="100000">
                                          <p:val>
                                            <p:strVal val="#ppt_w"/>
                                          </p:val>
                                        </p:tav>
                                      </p:tavLst>
                                    </p:anim>
                                    <p:anim calcmode="lin" valueType="num">
                                      <p:cBhvr>
                                        <p:cTn id="32" dur="500" fill="hold"/>
                                        <p:tgtEl>
                                          <p:spTgt spid="8">
                                            <p:txEl>
                                              <p:pRg st="1" end="1"/>
                                            </p:txEl>
                                          </p:spTgt>
                                        </p:tgtEl>
                                        <p:attrNameLst>
                                          <p:attrName>ppt_h</p:attrName>
                                        </p:attrNameLst>
                                      </p:cBhvr>
                                      <p:tavLst>
                                        <p:tav tm="0">
                                          <p:val>
                                            <p:fltVal val="0"/>
                                          </p:val>
                                        </p:tav>
                                        <p:tav tm="100000">
                                          <p:val>
                                            <p:strVal val="#ppt_h"/>
                                          </p:val>
                                        </p:tav>
                                      </p:tavLst>
                                    </p:anim>
                                    <p:animEffect transition="in" filter="fade">
                                      <p:cBhvr>
                                        <p:cTn id="33"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4" name="Picture 3" descr="Science Lab">
            <a:extLst>
              <a:ext uri="{FF2B5EF4-FFF2-40B4-BE49-F238E27FC236}">
                <a16:creationId xmlns:a16="http://schemas.microsoft.com/office/drawing/2014/main" id="{7E185DA8-778E-49D9-863D-7DB5660424E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12754" r="25902"/>
          <a:stretch/>
        </p:blipFill>
        <p:spPr>
          <a:xfrm>
            <a:off x="143760" y="936570"/>
            <a:ext cx="4527632" cy="5629884"/>
          </a:xfrm>
          <a:prstGeom prst="roundRect">
            <a:avLst>
              <a:gd name="adj" fmla="val 298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sp>
        <p:nvSpPr>
          <p:cNvPr id="2" name="Title 1">
            <a:extLst>
              <a:ext uri="{FF2B5EF4-FFF2-40B4-BE49-F238E27FC236}">
                <a16:creationId xmlns:a16="http://schemas.microsoft.com/office/drawing/2014/main" id="{A850B972-0B7A-40CD-9E79-07E8A87AB03C}"/>
              </a:ext>
            </a:extLst>
          </p:cNvPr>
          <p:cNvSpPr>
            <a:spLocks noGrp="1"/>
          </p:cNvSpPr>
          <p:nvPr>
            <p:ph type="title"/>
          </p:nvPr>
        </p:nvSpPr>
        <p:spPr>
          <a:xfrm>
            <a:off x="6805328" y="328543"/>
            <a:ext cx="3352128" cy="893971"/>
          </a:xfrm>
        </p:spPr>
        <p:txBody>
          <a:bodyPr>
            <a:normAutofit/>
          </a:bodyPr>
          <a:lstStyle/>
          <a:p>
            <a:pPr algn="l"/>
            <a:r>
              <a:rPr lang="en-US" sz="4000" b="1" dirty="0">
                <a:solidFill>
                  <a:schemeClr val="tx2">
                    <a:lumMod val="50000"/>
                  </a:schemeClr>
                </a:solidFill>
              </a:rPr>
              <a:t>ABSTRACT</a:t>
            </a:r>
          </a:p>
        </p:txBody>
      </p:sp>
      <p:sp>
        <p:nvSpPr>
          <p:cNvPr id="6" name="TextBox 5">
            <a:extLst>
              <a:ext uri="{FF2B5EF4-FFF2-40B4-BE49-F238E27FC236}">
                <a16:creationId xmlns:a16="http://schemas.microsoft.com/office/drawing/2014/main" id="{439B3C7F-8E52-1B72-8715-6221BEE85A6C}"/>
              </a:ext>
            </a:extLst>
          </p:cNvPr>
          <p:cNvSpPr txBox="1"/>
          <p:nvPr/>
        </p:nvSpPr>
        <p:spPr>
          <a:xfrm>
            <a:off x="5188225" y="1660406"/>
            <a:ext cx="6728791" cy="3139321"/>
          </a:xfrm>
          <a:prstGeom prst="rect">
            <a:avLst/>
          </a:prstGeom>
          <a:noFill/>
        </p:spPr>
        <p:txBody>
          <a:bodyPr wrap="square" rtlCol="0">
            <a:spAutoFit/>
          </a:bodyPr>
          <a:lstStyle/>
          <a:p>
            <a:pPr marL="285750" indent="-285750">
              <a:buFont typeface="Arial" panose="020B0604020202020204" pitchFamily="34" charset="0"/>
              <a:buChar char="•"/>
            </a:pPr>
            <a:r>
              <a:rPr lang="en-US" sz="2000" dirty="0"/>
              <a:t>The Chemistry Bot is an AI-based system designed to answer chemistry and science-related questions with high accuracy.</a:t>
            </a:r>
          </a:p>
          <a:p>
            <a:pPr marL="285750" indent="-285750">
              <a:buFont typeface="Arial" panose="020B0604020202020204" pitchFamily="34" charset="0"/>
              <a:buChar char="•"/>
            </a:pPr>
            <a:r>
              <a:rPr lang="en-US" sz="2000" dirty="0"/>
              <a:t>It uses carefully prepared chemistry datasets and a trained AI model to understand the meaning of user questions.</a:t>
            </a:r>
          </a:p>
          <a:p>
            <a:pPr marL="285750" indent="-285750">
              <a:buFont typeface="Arial" panose="020B0604020202020204" pitchFamily="34" charset="0"/>
              <a:buChar char="•"/>
            </a:pPr>
            <a:r>
              <a:rPr lang="en-US" sz="2000" dirty="0"/>
              <a:t>The bot generates clear, relevant, and student-friendly answers instead of simple keyword matching.</a:t>
            </a:r>
          </a:p>
          <a:p>
            <a:pPr marL="285750" indent="-285750">
              <a:buFont typeface="Arial" panose="020B0604020202020204" pitchFamily="34" charset="0"/>
              <a:buChar char="•"/>
            </a:pPr>
            <a:r>
              <a:rPr lang="en-US" sz="2000" dirty="0"/>
              <a:t>This project helps students and researchers learn chemistry faster, solve problems easily, and improve understanding of complex concepts.</a:t>
            </a:r>
          </a:p>
          <a:p>
            <a:endParaRPr lang="en-IN" dirty="0"/>
          </a:p>
        </p:txBody>
      </p:sp>
    </p:spTree>
    <p:extLst>
      <p:ext uri="{BB962C8B-B14F-4D97-AF65-F5344CB8AC3E}">
        <p14:creationId xmlns:p14="http://schemas.microsoft.com/office/powerpoint/2010/main" val="2026403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circle(in)">
                                      <p:cBhvr>
                                        <p:cTn id="12" dur="2000"/>
                                        <p:tgtEl>
                                          <p:spTgt spid="6">
                                            <p:txEl>
                                              <p:pRg st="0" end="0"/>
                                            </p:txEl>
                                          </p:spTgt>
                                        </p:tgtEl>
                                      </p:cBhvr>
                                    </p:animEffect>
                                  </p:childTnLst>
                                </p:cTn>
                              </p:par>
                              <p:par>
                                <p:cTn id="13" presetID="6" presetClass="entr" presetSubtype="16" fill="hold"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circle(in)">
                                      <p:cBhvr>
                                        <p:cTn id="15" dur="2000"/>
                                        <p:tgtEl>
                                          <p:spTgt spid="6">
                                            <p:txEl>
                                              <p:pRg st="1" end="1"/>
                                            </p:txEl>
                                          </p:spTgt>
                                        </p:tgtEl>
                                      </p:cBhvr>
                                    </p:animEffect>
                                  </p:childTnLst>
                                </p:cTn>
                              </p:par>
                              <p:par>
                                <p:cTn id="16" presetID="6" presetClass="entr" presetSubtype="16" fill="hold" nodeType="with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animEffect transition="in" filter="circle(in)">
                                      <p:cBhvr>
                                        <p:cTn id="18" dur="2000"/>
                                        <p:tgtEl>
                                          <p:spTgt spid="6">
                                            <p:txEl>
                                              <p:pRg st="2" end="2"/>
                                            </p:txEl>
                                          </p:spTgt>
                                        </p:tgtEl>
                                      </p:cBhvr>
                                    </p:animEffect>
                                  </p:childTnLst>
                                </p:cTn>
                              </p:par>
                              <p:par>
                                <p:cTn id="19" presetID="6" presetClass="entr" presetSubtype="16"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Effect transition="in" filter="circle(in)">
                                      <p:cBhvr>
                                        <p:cTn id="21" dur="20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AFBA3A3-E145-337A-7735-B874B30B4EF9}"/>
              </a:ext>
            </a:extLst>
          </p:cNvPr>
          <p:cNvSpPr txBox="1"/>
          <p:nvPr/>
        </p:nvSpPr>
        <p:spPr>
          <a:xfrm>
            <a:off x="3099352" y="188843"/>
            <a:ext cx="4484204" cy="707886"/>
          </a:xfrm>
          <a:prstGeom prst="rect">
            <a:avLst/>
          </a:prstGeom>
          <a:noFill/>
        </p:spPr>
        <p:txBody>
          <a:bodyPr wrap="square" rtlCol="0">
            <a:spAutoFit/>
          </a:bodyPr>
          <a:lstStyle/>
          <a:p>
            <a:r>
              <a:rPr lang="en-US" sz="4000" b="1" dirty="0"/>
              <a:t>INTRODUCTION</a:t>
            </a:r>
            <a:endParaRPr lang="en-IN" sz="4000" b="1" dirty="0"/>
          </a:p>
        </p:txBody>
      </p:sp>
      <p:sp>
        <p:nvSpPr>
          <p:cNvPr id="11" name="TextBox 10">
            <a:extLst>
              <a:ext uri="{FF2B5EF4-FFF2-40B4-BE49-F238E27FC236}">
                <a16:creationId xmlns:a16="http://schemas.microsoft.com/office/drawing/2014/main" id="{2DC626FB-5C79-4986-CB20-0C4E051E2389}"/>
              </a:ext>
            </a:extLst>
          </p:cNvPr>
          <p:cNvSpPr txBox="1"/>
          <p:nvPr/>
        </p:nvSpPr>
        <p:spPr>
          <a:xfrm>
            <a:off x="1152939" y="1113183"/>
            <a:ext cx="8289235" cy="4247317"/>
          </a:xfrm>
          <a:prstGeom prst="rect">
            <a:avLst/>
          </a:prstGeom>
          <a:noFill/>
        </p:spPr>
        <p:txBody>
          <a:bodyPr wrap="square" rtlCol="0">
            <a:spAutoFit/>
          </a:bodyPr>
          <a:lstStyle/>
          <a:p>
            <a:pPr marL="285750" indent="-285750">
              <a:buFont typeface="Courier New" panose="02070309020205020404" pitchFamily="49" charset="0"/>
              <a:buChar char="o"/>
            </a:pPr>
            <a:r>
              <a:rPr lang="en-US" dirty="0"/>
              <a:t>Artificial Intelligence is increasingly used in the education field to support students by providing quick and reliable learning assistance. It helps learners get instant answers without depending only on books or teachers.</a:t>
            </a:r>
          </a:p>
          <a:p>
            <a:pPr marL="285750" indent="-285750">
              <a:buFont typeface="Courier New" panose="02070309020205020404" pitchFamily="49" charset="0"/>
              <a:buChar char="o"/>
            </a:pPr>
            <a:r>
              <a:rPr lang="en-US" dirty="0"/>
              <a:t>Chemistry is an important science subject but is often considered difficult because of complex formulas, reactions, and theories. Many students struggle to clear their doubts in real time.</a:t>
            </a:r>
          </a:p>
          <a:p>
            <a:pPr marL="285750" indent="-285750">
              <a:buFont typeface="Courier New" panose="02070309020205020404" pitchFamily="49" charset="0"/>
              <a:buChar char="o"/>
            </a:pPr>
            <a:r>
              <a:rPr lang="en-US" dirty="0"/>
              <a:t>The Chemistry Bot is an AI-based application developed to answer chemistry and scientific questions through a simple chat interface. Users can easily type their questions and receive accurate responses.</a:t>
            </a:r>
          </a:p>
          <a:p>
            <a:pPr marL="285750" indent="-285750">
              <a:buFont typeface="Courier New" panose="02070309020205020404" pitchFamily="49" charset="0"/>
              <a:buChar char="o"/>
            </a:pPr>
            <a:r>
              <a:rPr lang="en-US" dirty="0"/>
              <a:t>The system uses natural language processing and trained AI models to understand the meaning of user queries rather than relying on simple keyword matching.</a:t>
            </a:r>
          </a:p>
          <a:p>
            <a:pPr marL="285750" indent="-285750">
              <a:buFont typeface="Courier New" panose="02070309020205020404" pitchFamily="49" charset="0"/>
              <a:buChar char="o"/>
            </a:pPr>
            <a:r>
              <a:rPr lang="en-US" dirty="0"/>
              <a:t>This project aims to make chemistry learning easier, faster, and more interactive, helping students improve their understanding and confidence in the subject.</a:t>
            </a:r>
            <a:endParaRPr lang="en-IN" dirty="0"/>
          </a:p>
        </p:txBody>
      </p:sp>
    </p:spTree>
    <p:extLst>
      <p:ext uri="{BB962C8B-B14F-4D97-AF65-F5344CB8AC3E}">
        <p14:creationId xmlns:p14="http://schemas.microsoft.com/office/powerpoint/2010/main" val="4112772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1000"/>
                                        <p:tgtEl>
                                          <p:spTgt spid="11">
                                            <p:txEl>
                                              <p:pRg st="0" end="0"/>
                                            </p:txEl>
                                          </p:spTgt>
                                        </p:tgtEl>
                                      </p:cBhvr>
                                    </p:animEffect>
                                    <p:anim calcmode="lin" valueType="num">
                                      <p:cBhvr>
                                        <p:cTn id="13"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1">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xEl>
                                              <p:pRg st="1" end="1"/>
                                            </p:txEl>
                                          </p:spTgt>
                                        </p:tgtEl>
                                        <p:attrNameLst>
                                          <p:attrName>style.visibility</p:attrName>
                                        </p:attrNameLst>
                                      </p:cBhvr>
                                      <p:to>
                                        <p:strVal val="visible"/>
                                      </p:to>
                                    </p:set>
                                    <p:animEffect transition="in" filter="fade">
                                      <p:cBhvr>
                                        <p:cTn id="17" dur="1000"/>
                                        <p:tgtEl>
                                          <p:spTgt spid="11">
                                            <p:txEl>
                                              <p:pRg st="1" end="1"/>
                                            </p:txEl>
                                          </p:spTgt>
                                        </p:tgtEl>
                                      </p:cBhvr>
                                    </p:animEffect>
                                    <p:anim calcmode="lin" valueType="num">
                                      <p:cBhvr>
                                        <p:cTn id="18"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11">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1">
                                            <p:txEl>
                                              <p:pRg st="2" end="2"/>
                                            </p:txEl>
                                          </p:spTgt>
                                        </p:tgtEl>
                                        <p:attrNameLst>
                                          <p:attrName>style.visibility</p:attrName>
                                        </p:attrNameLst>
                                      </p:cBhvr>
                                      <p:to>
                                        <p:strVal val="visible"/>
                                      </p:to>
                                    </p:set>
                                    <p:animEffect transition="in" filter="fade">
                                      <p:cBhvr>
                                        <p:cTn id="22" dur="1000"/>
                                        <p:tgtEl>
                                          <p:spTgt spid="11">
                                            <p:txEl>
                                              <p:pRg st="2" end="2"/>
                                            </p:txEl>
                                          </p:spTgt>
                                        </p:tgtEl>
                                      </p:cBhvr>
                                    </p:animEffect>
                                    <p:anim calcmode="lin" valueType="num">
                                      <p:cBhvr>
                                        <p:cTn id="23"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11">
                                            <p:txEl>
                                              <p:pRg st="2" end="2"/>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1">
                                            <p:txEl>
                                              <p:pRg st="3" end="3"/>
                                            </p:txEl>
                                          </p:spTgt>
                                        </p:tgtEl>
                                        <p:attrNameLst>
                                          <p:attrName>style.visibility</p:attrName>
                                        </p:attrNameLst>
                                      </p:cBhvr>
                                      <p:to>
                                        <p:strVal val="visible"/>
                                      </p:to>
                                    </p:set>
                                    <p:animEffect transition="in" filter="fade">
                                      <p:cBhvr>
                                        <p:cTn id="27" dur="1000"/>
                                        <p:tgtEl>
                                          <p:spTgt spid="11">
                                            <p:txEl>
                                              <p:pRg st="3" end="3"/>
                                            </p:txEl>
                                          </p:spTgt>
                                        </p:tgtEl>
                                      </p:cBhvr>
                                    </p:animEffect>
                                    <p:anim calcmode="lin" valueType="num">
                                      <p:cBhvr>
                                        <p:cTn id="28"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11">
                                            <p:txEl>
                                              <p:pRg st="3" end="3"/>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1">
                                            <p:txEl>
                                              <p:pRg st="4" end="4"/>
                                            </p:txEl>
                                          </p:spTgt>
                                        </p:tgtEl>
                                        <p:attrNameLst>
                                          <p:attrName>style.visibility</p:attrName>
                                        </p:attrNameLst>
                                      </p:cBhvr>
                                      <p:to>
                                        <p:strVal val="visible"/>
                                      </p:to>
                                    </p:set>
                                    <p:animEffect transition="in" filter="fade">
                                      <p:cBhvr>
                                        <p:cTn id="32" dur="1000"/>
                                        <p:tgtEl>
                                          <p:spTgt spid="11">
                                            <p:txEl>
                                              <p:pRg st="4" end="4"/>
                                            </p:txEl>
                                          </p:spTgt>
                                        </p:tgtEl>
                                      </p:cBhvr>
                                    </p:animEffect>
                                    <p:anim calcmode="lin" valueType="num">
                                      <p:cBhvr>
                                        <p:cTn id="33"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EDC8C-D66C-132E-3310-4491A92DD801}"/>
              </a:ext>
            </a:extLst>
          </p:cNvPr>
          <p:cNvSpPr>
            <a:spLocks noGrp="1"/>
          </p:cNvSpPr>
          <p:nvPr>
            <p:ph type="title"/>
          </p:nvPr>
        </p:nvSpPr>
        <p:spPr>
          <a:xfrm>
            <a:off x="130682" y="131416"/>
            <a:ext cx="9261796" cy="622853"/>
          </a:xfrm>
        </p:spPr>
        <p:txBody>
          <a:bodyPr>
            <a:normAutofit fontScale="90000"/>
          </a:bodyPr>
          <a:lstStyle/>
          <a:p>
            <a:r>
              <a:rPr lang="en-US" dirty="0">
                <a:solidFill>
                  <a:schemeClr val="bg2">
                    <a:lumMod val="25000"/>
                  </a:schemeClr>
                </a:solidFill>
                <a:latin typeface="Arial Rounded MT Bold" panose="020F0704030504030204" pitchFamily="34" charset="0"/>
              </a:rPr>
              <a:t>EXISTING SYSTEMS : </a:t>
            </a:r>
            <a:r>
              <a:rPr lang="en-US" b="1" dirty="0">
                <a:solidFill>
                  <a:schemeClr val="bg2">
                    <a:lumMod val="50000"/>
                  </a:schemeClr>
                </a:solidFill>
                <a:latin typeface="Unbounded Bold" pitchFamily="34" charset="0"/>
                <a:ea typeface="Unbounded Bold" pitchFamily="34" charset="-122"/>
                <a:cs typeface="Unbounded Bold" pitchFamily="34" charset="-120"/>
              </a:rPr>
              <a:t>The Need for Specialization</a:t>
            </a:r>
            <a:endParaRPr lang="en-IN" dirty="0">
              <a:solidFill>
                <a:schemeClr val="bg2">
                  <a:lumMod val="50000"/>
                </a:schemeClr>
              </a:solidFill>
              <a:latin typeface="Arial Rounded MT Bold" panose="020F0704030504030204" pitchFamily="34" charset="0"/>
            </a:endParaRPr>
          </a:p>
        </p:txBody>
      </p:sp>
      <p:sp>
        <p:nvSpPr>
          <p:cNvPr id="17" name="Text 1">
            <a:extLst>
              <a:ext uri="{FF2B5EF4-FFF2-40B4-BE49-F238E27FC236}">
                <a16:creationId xmlns:a16="http://schemas.microsoft.com/office/drawing/2014/main" id="{0E03FDCE-8526-928E-421E-0994E043DD5F}"/>
              </a:ext>
            </a:extLst>
          </p:cNvPr>
          <p:cNvSpPr/>
          <p:nvPr/>
        </p:nvSpPr>
        <p:spPr>
          <a:xfrm>
            <a:off x="569295" y="875110"/>
            <a:ext cx="7568089" cy="972622"/>
          </a:xfrm>
          <a:prstGeom prst="rect">
            <a:avLst/>
          </a:prstGeom>
          <a:noFill/>
          <a:ln/>
        </p:spPr>
        <p:txBody>
          <a:bodyPr wrap="square" lIns="0" tIns="0" rIns="0" bIns="0" rtlCol="0" anchor="t"/>
          <a:lstStyle/>
          <a:p>
            <a:pPr marL="0" indent="0" algn="l">
              <a:lnSpc>
                <a:spcPts val="2550"/>
              </a:lnSpc>
              <a:buNone/>
            </a:pPr>
            <a:r>
              <a:rPr lang="en-US" sz="1550" dirty="0">
                <a:solidFill>
                  <a:schemeClr val="tx2"/>
                </a:solidFill>
                <a:latin typeface="Open Sans" pitchFamily="34" charset="0"/>
                <a:ea typeface="Open Sans" pitchFamily="34" charset="-122"/>
                <a:cs typeface="Open Sans" pitchFamily="34" charset="-120"/>
              </a:rPr>
              <a:t>Current Question Answering (QA) solutions in chemistry face significant limitations, often resulting in inaccurate or incomplete responses to complex scientific queries.</a:t>
            </a:r>
            <a:endParaRPr lang="en-US" sz="1550" dirty="0">
              <a:solidFill>
                <a:schemeClr val="tx2"/>
              </a:solidFill>
            </a:endParaRPr>
          </a:p>
        </p:txBody>
      </p:sp>
      <p:sp>
        <p:nvSpPr>
          <p:cNvPr id="19" name="Text 2">
            <a:extLst>
              <a:ext uri="{FF2B5EF4-FFF2-40B4-BE49-F238E27FC236}">
                <a16:creationId xmlns:a16="http://schemas.microsoft.com/office/drawing/2014/main" id="{02A40F0D-82E9-C918-0B19-A5952FEBA6A8}"/>
              </a:ext>
            </a:extLst>
          </p:cNvPr>
          <p:cNvSpPr/>
          <p:nvPr/>
        </p:nvSpPr>
        <p:spPr>
          <a:xfrm>
            <a:off x="429221" y="1969295"/>
            <a:ext cx="3362206" cy="316468"/>
          </a:xfrm>
          <a:prstGeom prst="rect">
            <a:avLst/>
          </a:prstGeom>
          <a:noFill/>
          <a:ln/>
        </p:spPr>
        <p:txBody>
          <a:bodyPr wrap="none" lIns="0" tIns="0" rIns="0" bIns="0" rtlCol="0" anchor="t"/>
          <a:lstStyle/>
          <a:p>
            <a:pPr marL="0" indent="0" algn="l">
              <a:lnSpc>
                <a:spcPts val="2450"/>
              </a:lnSpc>
              <a:buNone/>
            </a:pPr>
            <a:r>
              <a:rPr lang="en-US" sz="1950" b="1" dirty="0">
                <a:solidFill>
                  <a:schemeClr val="tx2"/>
                </a:solidFill>
                <a:latin typeface="Unbounded Bold" pitchFamily="34" charset="0"/>
                <a:ea typeface="Unbounded Bold" pitchFamily="34" charset="-122"/>
                <a:cs typeface="Unbounded Bold" pitchFamily="34" charset="-120"/>
              </a:rPr>
              <a:t>Rule-Based &amp; Generic</a:t>
            </a:r>
            <a:endParaRPr lang="en-US" sz="1950" dirty="0">
              <a:solidFill>
                <a:schemeClr val="tx2"/>
              </a:solidFill>
            </a:endParaRPr>
          </a:p>
        </p:txBody>
      </p:sp>
      <p:sp>
        <p:nvSpPr>
          <p:cNvPr id="20" name="Text 3">
            <a:extLst>
              <a:ext uri="{FF2B5EF4-FFF2-40B4-BE49-F238E27FC236}">
                <a16:creationId xmlns:a16="http://schemas.microsoft.com/office/drawing/2014/main" id="{D01B8CA2-ED84-07D5-9C8A-FA3C321E3B0B}"/>
              </a:ext>
            </a:extLst>
          </p:cNvPr>
          <p:cNvSpPr/>
          <p:nvPr/>
        </p:nvSpPr>
        <p:spPr>
          <a:xfrm>
            <a:off x="429220" y="2342024"/>
            <a:ext cx="6352461" cy="648414"/>
          </a:xfrm>
          <a:prstGeom prst="rect">
            <a:avLst/>
          </a:prstGeom>
          <a:noFill/>
          <a:ln/>
        </p:spPr>
        <p:txBody>
          <a:bodyPr wrap="square" lIns="0" tIns="0" rIns="0" bIns="0" rtlCol="0" anchor="t"/>
          <a:lstStyle/>
          <a:p>
            <a:pPr marL="0" indent="0" algn="l">
              <a:lnSpc>
                <a:spcPts val="2550"/>
              </a:lnSpc>
              <a:buNone/>
            </a:pPr>
            <a:r>
              <a:rPr lang="en-US" sz="1550" dirty="0">
                <a:solidFill>
                  <a:schemeClr val="tx2"/>
                </a:solidFill>
                <a:latin typeface="Open Sans" pitchFamily="34" charset="0"/>
                <a:ea typeface="Open Sans" pitchFamily="34" charset="-122"/>
                <a:cs typeface="Open Sans" pitchFamily="34" charset="-120"/>
              </a:rPr>
              <a:t>               Many systems rely on predefined rules or general language models, which fall short in scientific domains.</a:t>
            </a:r>
            <a:endParaRPr lang="en-US" sz="1550" dirty="0">
              <a:solidFill>
                <a:schemeClr val="tx2"/>
              </a:solidFill>
            </a:endParaRPr>
          </a:p>
        </p:txBody>
      </p:sp>
      <p:sp>
        <p:nvSpPr>
          <p:cNvPr id="22" name="Text 4">
            <a:extLst>
              <a:ext uri="{FF2B5EF4-FFF2-40B4-BE49-F238E27FC236}">
                <a16:creationId xmlns:a16="http://schemas.microsoft.com/office/drawing/2014/main" id="{ABC94FF4-9D35-7DAC-8157-96083F96352F}"/>
              </a:ext>
            </a:extLst>
          </p:cNvPr>
          <p:cNvSpPr/>
          <p:nvPr/>
        </p:nvSpPr>
        <p:spPr>
          <a:xfrm>
            <a:off x="429221" y="3232120"/>
            <a:ext cx="3034665" cy="316468"/>
          </a:xfrm>
          <a:prstGeom prst="rect">
            <a:avLst/>
          </a:prstGeom>
          <a:noFill/>
          <a:ln/>
        </p:spPr>
        <p:txBody>
          <a:bodyPr wrap="none" lIns="0" tIns="0" rIns="0" bIns="0" rtlCol="0" anchor="t"/>
          <a:lstStyle/>
          <a:p>
            <a:pPr marL="0" indent="0" algn="l">
              <a:lnSpc>
                <a:spcPts val="2450"/>
              </a:lnSpc>
              <a:buNone/>
            </a:pPr>
            <a:r>
              <a:rPr lang="en-US" sz="1950" b="1" dirty="0">
                <a:solidFill>
                  <a:schemeClr val="tx2"/>
                </a:solidFill>
                <a:latin typeface="Unbounded Bold" pitchFamily="34" charset="0"/>
                <a:ea typeface="Unbounded Bold" pitchFamily="34" charset="-122"/>
                <a:cs typeface="Unbounded Bold" pitchFamily="34" charset="-120"/>
              </a:rPr>
              <a:t>Limited Knowledge</a:t>
            </a:r>
            <a:endParaRPr lang="en-US" sz="1950" dirty="0">
              <a:solidFill>
                <a:schemeClr val="tx2"/>
              </a:solidFill>
            </a:endParaRPr>
          </a:p>
        </p:txBody>
      </p:sp>
      <p:sp>
        <p:nvSpPr>
          <p:cNvPr id="23" name="Text 5">
            <a:extLst>
              <a:ext uri="{FF2B5EF4-FFF2-40B4-BE49-F238E27FC236}">
                <a16:creationId xmlns:a16="http://schemas.microsoft.com/office/drawing/2014/main" id="{78F1265E-AAA4-0425-CD45-CCF5B2F10418}"/>
              </a:ext>
            </a:extLst>
          </p:cNvPr>
          <p:cNvSpPr/>
          <p:nvPr/>
        </p:nvSpPr>
        <p:spPr>
          <a:xfrm>
            <a:off x="429220" y="3664721"/>
            <a:ext cx="6352461" cy="648414"/>
          </a:xfrm>
          <a:prstGeom prst="rect">
            <a:avLst/>
          </a:prstGeom>
          <a:noFill/>
          <a:ln/>
        </p:spPr>
        <p:txBody>
          <a:bodyPr wrap="square" lIns="0" tIns="0" rIns="0" bIns="0" rtlCol="0" anchor="t"/>
          <a:lstStyle/>
          <a:p>
            <a:pPr marL="0" indent="0" algn="l">
              <a:lnSpc>
                <a:spcPts val="2550"/>
              </a:lnSpc>
              <a:buNone/>
            </a:pPr>
            <a:r>
              <a:rPr lang="en-US" sz="1550" dirty="0">
                <a:solidFill>
                  <a:schemeClr val="tx2"/>
                </a:solidFill>
                <a:latin typeface="Open Sans" pitchFamily="34" charset="0"/>
                <a:ea typeface="Open Sans" pitchFamily="34" charset="-122"/>
                <a:cs typeface="Open Sans" pitchFamily="34" charset="-120"/>
              </a:rPr>
              <a:t>             These systems possess inadequate knowledge of chemistry's vast and specific terminology.</a:t>
            </a:r>
            <a:endParaRPr lang="en-US" sz="1550" dirty="0">
              <a:solidFill>
                <a:schemeClr val="tx2"/>
              </a:solidFill>
            </a:endParaRPr>
          </a:p>
        </p:txBody>
      </p:sp>
      <p:sp>
        <p:nvSpPr>
          <p:cNvPr id="25" name="Text 6">
            <a:extLst>
              <a:ext uri="{FF2B5EF4-FFF2-40B4-BE49-F238E27FC236}">
                <a16:creationId xmlns:a16="http://schemas.microsoft.com/office/drawing/2014/main" id="{1E8184DE-C0C9-2487-46C1-B5129BEB06DD}"/>
              </a:ext>
            </a:extLst>
          </p:cNvPr>
          <p:cNvSpPr/>
          <p:nvPr/>
        </p:nvSpPr>
        <p:spPr>
          <a:xfrm>
            <a:off x="429220" y="4476282"/>
            <a:ext cx="2532936" cy="316468"/>
          </a:xfrm>
          <a:prstGeom prst="rect">
            <a:avLst/>
          </a:prstGeom>
          <a:noFill/>
          <a:ln/>
        </p:spPr>
        <p:txBody>
          <a:bodyPr wrap="none" lIns="0" tIns="0" rIns="0" bIns="0" rtlCol="0" anchor="t"/>
          <a:lstStyle/>
          <a:p>
            <a:pPr marL="0" indent="0" algn="l">
              <a:lnSpc>
                <a:spcPts val="2450"/>
              </a:lnSpc>
              <a:buNone/>
            </a:pPr>
            <a:r>
              <a:rPr lang="en-US" sz="1950" b="1" dirty="0">
                <a:solidFill>
                  <a:schemeClr val="tx2"/>
                </a:solidFill>
                <a:latin typeface="Unbounded Bold" pitchFamily="34" charset="0"/>
                <a:ea typeface="Unbounded Bold" pitchFamily="34" charset="-122"/>
                <a:cs typeface="Unbounded Bold" pitchFamily="34" charset="-120"/>
              </a:rPr>
              <a:t>High Error Rate</a:t>
            </a:r>
            <a:endParaRPr lang="en-US" sz="1950" dirty="0">
              <a:solidFill>
                <a:schemeClr val="tx2"/>
              </a:solidFill>
            </a:endParaRPr>
          </a:p>
        </p:txBody>
      </p:sp>
      <p:sp>
        <p:nvSpPr>
          <p:cNvPr id="26" name="Text 7">
            <a:extLst>
              <a:ext uri="{FF2B5EF4-FFF2-40B4-BE49-F238E27FC236}">
                <a16:creationId xmlns:a16="http://schemas.microsoft.com/office/drawing/2014/main" id="{43337070-835E-18C2-4C8C-59A19E788C94}"/>
              </a:ext>
            </a:extLst>
          </p:cNvPr>
          <p:cNvSpPr/>
          <p:nvPr/>
        </p:nvSpPr>
        <p:spPr>
          <a:xfrm>
            <a:off x="429220" y="4881754"/>
            <a:ext cx="6352461" cy="648414"/>
          </a:xfrm>
          <a:prstGeom prst="rect">
            <a:avLst/>
          </a:prstGeom>
          <a:noFill/>
          <a:ln/>
        </p:spPr>
        <p:txBody>
          <a:bodyPr wrap="square" lIns="0" tIns="0" rIns="0" bIns="0" rtlCol="0" anchor="t"/>
          <a:lstStyle/>
          <a:p>
            <a:pPr marL="0" indent="0" algn="l">
              <a:lnSpc>
                <a:spcPts val="2550"/>
              </a:lnSpc>
              <a:buNone/>
            </a:pPr>
            <a:r>
              <a:rPr lang="en-US" sz="1550" dirty="0">
                <a:solidFill>
                  <a:schemeClr val="tx2"/>
                </a:solidFill>
                <a:latin typeface="Open Sans" pitchFamily="34" charset="0"/>
                <a:ea typeface="Open Sans" pitchFamily="34" charset="-122"/>
                <a:cs typeface="Open Sans" pitchFamily="34" charset="-120"/>
              </a:rPr>
              <a:t>             A high frequency of incorrect answers for scientific questions hampers their utility in academic and research settings.</a:t>
            </a:r>
            <a:endParaRPr lang="en-US" sz="1550" dirty="0">
              <a:solidFill>
                <a:schemeClr val="tx2"/>
              </a:solidFill>
            </a:endParaRPr>
          </a:p>
        </p:txBody>
      </p:sp>
    </p:spTree>
    <p:extLst>
      <p:ext uri="{BB962C8B-B14F-4D97-AF65-F5344CB8AC3E}">
        <p14:creationId xmlns:p14="http://schemas.microsoft.com/office/powerpoint/2010/main" val="1289935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7">
                                            <p:txEl>
                                              <p:pRg st="0" end="0"/>
                                            </p:txEl>
                                          </p:spTgt>
                                        </p:tgtEl>
                                        <p:attrNameLst>
                                          <p:attrName>style.visibility</p:attrName>
                                        </p:attrNameLst>
                                      </p:cBhvr>
                                      <p:to>
                                        <p:strVal val="visible"/>
                                      </p:to>
                                    </p:set>
                                    <p:anim calcmode="lin" valueType="num">
                                      <p:cBhvr additive="base">
                                        <p:cTn id="14"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9">
                                            <p:txEl>
                                              <p:pRg st="0" end="0"/>
                                            </p:txEl>
                                          </p:spTgt>
                                        </p:tgtEl>
                                        <p:attrNameLst>
                                          <p:attrName>style.visibility</p:attrName>
                                        </p:attrNameLst>
                                      </p:cBhvr>
                                      <p:to>
                                        <p:strVal val="visible"/>
                                      </p:to>
                                    </p:set>
                                    <p:animEffect transition="in" filter="fade">
                                      <p:cBhvr>
                                        <p:cTn id="20" dur="500"/>
                                        <p:tgtEl>
                                          <p:spTgt spid="19">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20">
                                            <p:txEl>
                                              <p:pRg st="0" end="0"/>
                                            </p:txEl>
                                          </p:spTgt>
                                        </p:tgtEl>
                                        <p:attrNameLst>
                                          <p:attrName>style.visibility</p:attrName>
                                        </p:attrNameLst>
                                      </p:cBhvr>
                                      <p:to>
                                        <p:strVal val="visible"/>
                                      </p:to>
                                    </p:set>
                                    <p:animEffect transition="in" filter="fade">
                                      <p:cBhvr>
                                        <p:cTn id="25" dur="1000"/>
                                        <p:tgtEl>
                                          <p:spTgt spid="20">
                                            <p:txEl>
                                              <p:pRg st="0" end="0"/>
                                            </p:txEl>
                                          </p:spTgt>
                                        </p:tgtEl>
                                      </p:cBhvr>
                                    </p:animEffect>
                                    <p:anim calcmode="lin" valueType="num">
                                      <p:cBhvr>
                                        <p:cTn id="26"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23">
                                            <p:txEl>
                                              <p:pRg st="0" end="0"/>
                                            </p:txEl>
                                          </p:spTgt>
                                        </p:tgtEl>
                                        <p:attrNameLst>
                                          <p:attrName>style.visibility</p:attrName>
                                        </p:attrNameLst>
                                      </p:cBhvr>
                                      <p:to>
                                        <p:strVal val="visible"/>
                                      </p:to>
                                    </p:set>
                                    <p:animEffect transition="in" filter="barn(inVertical)">
                                      <p:cBhvr>
                                        <p:cTn id="37" dur="500"/>
                                        <p:tgtEl>
                                          <p:spTgt spid="23">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5">
                                            <p:txEl>
                                              <p:pRg st="0" end="0"/>
                                            </p:txEl>
                                          </p:spTgt>
                                        </p:tgtEl>
                                        <p:attrNameLst>
                                          <p:attrName>style.visibility</p:attrName>
                                        </p:attrNameLst>
                                      </p:cBhvr>
                                      <p:to>
                                        <p:strVal val="visible"/>
                                      </p:to>
                                    </p:set>
                                    <p:animEffect transition="in" filter="fade">
                                      <p:cBhvr>
                                        <p:cTn id="42" dur="500"/>
                                        <p:tgtEl>
                                          <p:spTgt spid="2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26">
                                            <p:txEl>
                                              <p:pRg st="0" end="0"/>
                                            </p:txEl>
                                          </p:spTgt>
                                        </p:tgtEl>
                                        <p:attrNameLst>
                                          <p:attrName>style.visibility</p:attrName>
                                        </p:attrNameLst>
                                      </p:cBhvr>
                                      <p:to>
                                        <p:strVal val="visible"/>
                                      </p:to>
                                    </p:set>
                                    <p:animEffect transition="in" filter="barn(inVertical)">
                                      <p:cBhvr>
                                        <p:cTn id="47"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E5B2A6-1A3C-A659-3B14-5EB953E3B761}"/>
              </a:ext>
            </a:extLst>
          </p:cNvPr>
          <p:cNvSpPr txBox="1"/>
          <p:nvPr/>
        </p:nvSpPr>
        <p:spPr>
          <a:xfrm>
            <a:off x="2802833" y="243652"/>
            <a:ext cx="4422915" cy="646331"/>
          </a:xfrm>
          <a:prstGeom prst="rect">
            <a:avLst/>
          </a:prstGeom>
          <a:noFill/>
          <a:effectLst>
            <a:glow rad="63500">
              <a:schemeClr val="accent4">
                <a:satMod val="175000"/>
                <a:alpha val="40000"/>
              </a:schemeClr>
            </a:glow>
            <a:outerShdw blurRad="50800" dist="38100" dir="5400000" algn="t" rotWithShape="0">
              <a:prstClr val="black">
                <a:alpha val="40000"/>
              </a:prstClr>
            </a:outerShdw>
          </a:effectLst>
          <a:scene3d>
            <a:camera prst="orthographicFront"/>
            <a:lightRig rig="threePt" dir="t"/>
          </a:scene3d>
          <a:sp3d>
            <a:bevelT w="152400" h="50800" prst="softRound"/>
          </a:sp3d>
        </p:spPr>
        <p:txBody>
          <a:bodyPr wrap="square" rtlCol="0">
            <a:spAutoFit/>
          </a:bodyPr>
          <a:lstStyle/>
          <a:p>
            <a:r>
              <a:rPr lang="en-US" sz="3600" b="1" dirty="0">
                <a:solidFill>
                  <a:schemeClr val="tx1">
                    <a:lumMod val="85000"/>
                    <a:lumOff val="15000"/>
                  </a:schemeClr>
                </a:solidFill>
                <a:latin typeface="Bahnschrift SemiBold" panose="020B0502040204020203" pitchFamily="34" charset="0"/>
              </a:rPr>
              <a:t>PROPOSED SYSTEM</a:t>
            </a:r>
            <a:endParaRPr lang="en-IN" sz="3600" b="1" dirty="0">
              <a:solidFill>
                <a:schemeClr val="tx1">
                  <a:lumMod val="85000"/>
                  <a:lumOff val="15000"/>
                </a:schemeClr>
              </a:solidFill>
              <a:latin typeface="Bahnschrift SemiBold" panose="020B0502040204020203" pitchFamily="34" charset="0"/>
            </a:endParaRPr>
          </a:p>
        </p:txBody>
      </p:sp>
      <p:sp>
        <p:nvSpPr>
          <p:cNvPr id="3" name="TextBox 2">
            <a:extLst>
              <a:ext uri="{FF2B5EF4-FFF2-40B4-BE49-F238E27FC236}">
                <a16:creationId xmlns:a16="http://schemas.microsoft.com/office/drawing/2014/main" id="{A9841277-F4E6-2F39-FA8E-C4C37ABBB751}"/>
              </a:ext>
            </a:extLst>
          </p:cNvPr>
          <p:cNvSpPr txBox="1"/>
          <p:nvPr/>
        </p:nvSpPr>
        <p:spPr>
          <a:xfrm>
            <a:off x="1113183" y="1172817"/>
            <a:ext cx="7941365" cy="3970318"/>
          </a:xfrm>
          <a:prstGeom prst="rect">
            <a:avLst/>
          </a:prstGeom>
          <a:noFill/>
          <a:scene3d>
            <a:camera prst="orthographicFront"/>
            <a:lightRig rig="threePt" dir="t"/>
          </a:scene3d>
          <a:sp3d>
            <a:bevelB w="25400"/>
          </a:sp3d>
        </p:spPr>
        <p:txBody>
          <a:bodyPr wrap="square" rtlCol="0">
            <a:spAutoFit/>
          </a:bodyPr>
          <a:lstStyle/>
          <a:p>
            <a:pPr marL="285750" indent="-285750">
              <a:buFont typeface="Arial" panose="020B0604020202020204" pitchFamily="34" charset="0"/>
              <a:buChar char="•"/>
            </a:pPr>
            <a:r>
              <a:rPr lang="en-US" dirty="0">
                <a:latin typeface="Bahnschrift Light" panose="020B0502040204020203" pitchFamily="34" charset="0"/>
              </a:rPr>
              <a:t>The proposed system is an AI-based Chemistry Bot designed to answer chemistry and scientific questions accurately.</a:t>
            </a:r>
          </a:p>
          <a:p>
            <a:endParaRPr lang="en-US" dirty="0">
              <a:latin typeface="Bahnschrift Light" panose="020B0502040204020203" pitchFamily="34" charset="0"/>
            </a:endParaRPr>
          </a:p>
          <a:p>
            <a:pPr marL="285750" indent="-285750">
              <a:buFont typeface="Arial" panose="020B0604020202020204" pitchFamily="34" charset="0"/>
              <a:buChar char="•"/>
            </a:pPr>
            <a:r>
              <a:rPr lang="en-US" dirty="0">
                <a:latin typeface="Bahnschrift Light" panose="020B0502040204020203" pitchFamily="34" charset="0"/>
              </a:rPr>
              <a:t>The proposed system is an AI-based Chemistry Bot designed to answer chemistry and scientific questions accurately.</a:t>
            </a:r>
          </a:p>
          <a:p>
            <a:endParaRPr lang="en-US" dirty="0">
              <a:latin typeface="Bahnschrift Light" panose="020B0502040204020203" pitchFamily="34" charset="0"/>
            </a:endParaRPr>
          </a:p>
          <a:p>
            <a:pPr marL="285750" indent="-285750">
              <a:buFont typeface="Arial" panose="020B0604020202020204" pitchFamily="34" charset="0"/>
              <a:buChar char="•"/>
            </a:pPr>
            <a:r>
              <a:rPr lang="en-US" dirty="0">
                <a:latin typeface="Bahnschrift Light" panose="020B0502040204020203" pitchFamily="34" charset="0"/>
              </a:rPr>
              <a:t>Natural Language Processing is used to understand user questions and provide meaningful, context-based responses.</a:t>
            </a:r>
          </a:p>
          <a:p>
            <a:endParaRPr lang="en-US" dirty="0">
              <a:latin typeface="Bahnschrift Light" panose="020B0502040204020203" pitchFamily="34" charset="0"/>
            </a:endParaRPr>
          </a:p>
          <a:p>
            <a:pPr marL="285750" indent="-285750">
              <a:buFont typeface="Arial" panose="020B0604020202020204" pitchFamily="34" charset="0"/>
              <a:buChar char="•"/>
            </a:pPr>
            <a:r>
              <a:rPr lang="en-US" dirty="0">
                <a:latin typeface="Bahnschrift Light" panose="020B0502040204020203" pitchFamily="34" charset="0"/>
              </a:rPr>
              <a:t>The system uses an efficiently trained AI model to deliver fast and reliable answers with low computational cost.</a:t>
            </a:r>
          </a:p>
          <a:p>
            <a:endParaRPr lang="en-US" dirty="0">
              <a:latin typeface="Bahnschrift Light" panose="020B0502040204020203" pitchFamily="34" charset="0"/>
            </a:endParaRPr>
          </a:p>
          <a:p>
            <a:pPr marL="285750" indent="-285750">
              <a:buFont typeface="Arial" panose="020B0604020202020204" pitchFamily="34" charset="0"/>
              <a:buChar char="•"/>
            </a:pPr>
            <a:r>
              <a:rPr lang="en-US" dirty="0">
                <a:latin typeface="Bahnschrift Light" panose="020B0502040204020203" pitchFamily="34" charset="0"/>
              </a:rPr>
              <a:t>A user-friendly chat interface with secure login allows easy interaction and better learning experience.</a:t>
            </a:r>
            <a:endParaRPr lang="en-IN" dirty="0">
              <a:latin typeface="Bahnschrift Light" panose="020B0502040204020203" pitchFamily="34" charset="0"/>
            </a:endParaRPr>
          </a:p>
        </p:txBody>
      </p:sp>
    </p:spTree>
    <p:extLst>
      <p:ext uri="{BB962C8B-B14F-4D97-AF65-F5344CB8AC3E}">
        <p14:creationId xmlns:p14="http://schemas.microsoft.com/office/powerpoint/2010/main" val="3786006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heel(1)">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arn(inVertical)">
                                      <p:cBhvr>
                                        <p:cTn id="15" dur="500"/>
                                        <p:tgtEl>
                                          <p:spTgt spid="3">
                                            <p:txEl>
                                              <p:pRg st="2" end="2"/>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barn(inVertical)">
                                      <p:cBhvr>
                                        <p:cTn id="18" dur="500"/>
                                        <p:tgtEl>
                                          <p:spTgt spid="3">
                                            <p:txEl>
                                              <p:pRg st="4" end="4"/>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barn(inVertical)">
                                      <p:cBhvr>
                                        <p:cTn id="21" dur="500"/>
                                        <p:tgtEl>
                                          <p:spTgt spid="3">
                                            <p:txEl>
                                              <p:pRg st="6" end="6"/>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barn(inVertical)">
                                      <p:cBhvr>
                                        <p:cTn id="24"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891AF2DD-5C20-DD0E-F38A-A26E90BB5DEB}"/>
              </a:ext>
            </a:extLst>
          </p:cNvPr>
          <p:cNvSpPr/>
          <p:nvPr/>
        </p:nvSpPr>
        <p:spPr>
          <a:xfrm>
            <a:off x="418779" y="228213"/>
            <a:ext cx="9315450" cy="449461"/>
          </a:xfrm>
          <a:prstGeom prst="rect">
            <a:avLst/>
          </a:prstGeom>
          <a:noFill/>
          <a:ln/>
        </p:spPr>
        <p:txBody>
          <a:bodyPr wrap="none" lIns="0" tIns="0" rIns="0" bIns="0" rtlCol="0" anchor="t"/>
          <a:lstStyle/>
          <a:p>
            <a:pPr marL="0" indent="0" algn="l">
              <a:lnSpc>
                <a:spcPts val="3500"/>
              </a:lnSpc>
              <a:buNone/>
            </a:pPr>
            <a:r>
              <a:rPr lang="en-US" sz="2800" b="1" dirty="0">
                <a:solidFill>
                  <a:srgbClr val="333F70"/>
                </a:solidFill>
                <a:latin typeface="Unbounded Bold" pitchFamily="34" charset="0"/>
                <a:ea typeface="Unbounded Bold" pitchFamily="34" charset="-122"/>
                <a:cs typeface="Unbounded Bold" pitchFamily="34" charset="-120"/>
              </a:rPr>
              <a:t> </a:t>
            </a:r>
            <a:r>
              <a:rPr lang="en-US" sz="2800" b="1" dirty="0">
                <a:solidFill>
                  <a:schemeClr val="tx1">
                    <a:lumMod val="85000"/>
                    <a:lumOff val="15000"/>
                  </a:schemeClr>
                </a:solidFill>
                <a:latin typeface="Unbounded Bold" pitchFamily="34" charset="0"/>
                <a:ea typeface="Unbounded Bold" pitchFamily="34" charset="-122"/>
                <a:cs typeface="Unbounded Bold" pitchFamily="34" charset="-120"/>
              </a:rPr>
              <a:t>System Analysis: Technical Foundation</a:t>
            </a:r>
            <a:endParaRPr lang="en-US" sz="2800" dirty="0">
              <a:solidFill>
                <a:schemeClr val="tx1">
                  <a:lumMod val="85000"/>
                  <a:lumOff val="15000"/>
                </a:schemeClr>
              </a:solidFill>
            </a:endParaRPr>
          </a:p>
        </p:txBody>
      </p:sp>
      <p:sp>
        <p:nvSpPr>
          <p:cNvPr id="6" name="Text 1">
            <a:extLst>
              <a:ext uri="{FF2B5EF4-FFF2-40B4-BE49-F238E27FC236}">
                <a16:creationId xmlns:a16="http://schemas.microsoft.com/office/drawing/2014/main" id="{4DD4A0E0-1049-85C1-2BA0-222FAC984EB8}"/>
              </a:ext>
            </a:extLst>
          </p:cNvPr>
          <p:cNvSpPr/>
          <p:nvPr/>
        </p:nvSpPr>
        <p:spPr>
          <a:xfrm>
            <a:off x="418779" y="787806"/>
            <a:ext cx="9033334" cy="575310"/>
          </a:xfrm>
          <a:prstGeom prst="rect">
            <a:avLst/>
          </a:prstGeom>
          <a:noFill/>
          <a:ln/>
        </p:spPr>
        <p:txBody>
          <a:bodyPr wrap="square" lIns="0" tIns="0" rIns="0" bIns="0" rtlCol="0" anchor="t"/>
          <a:lstStyle/>
          <a:p>
            <a:pPr marL="0" indent="0" algn="l">
              <a:lnSpc>
                <a:spcPts val="2250"/>
              </a:lnSpc>
              <a:buNone/>
            </a:pPr>
            <a:r>
              <a:rPr lang="en-US" sz="1400" dirty="0">
                <a:solidFill>
                  <a:schemeClr val="tx1">
                    <a:lumMod val="95000"/>
                    <a:lumOff val="5000"/>
                  </a:schemeClr>
                </a:solidFill>
                <a:latin typeface="Open Sans" pitchFamily="34" charset="0"/>
                <a:ea typeface="Open Sans" pitchFamily="34" charset="-122"/>
                <a:cs typeface="Open Sans" pitchFamily="34" charset="-120"/>
              </a:rPr>
              <a:t>The development of the Classroom Chemistry Bot relies on a robust technical stack, combining powerful software tools and accessible hardware requirements.</a:t>
            </a:r>
            <a:endParaRPr lang="en-US" sz="1400" dirty="0">
              <a:solidFill>
                <a:schemeClr val="tx1">
                  <a:lumMod val="95000"/>
                  <a:lumOff val="5000"/>
                </a:schemeClr>
              </a:solidFill>
            </a:endParaRPr>
          </a:p>
        </p:txBody>
      </p:sp>
      <p:sp>
        <p:nvSpPr>
          <p:cNvPr id="7" name="Text 2">
            <a:extLst>
              <a:ext uri="{FF2B5EF4-FFF2-40B4-BE49-F238E27FC236}">
                <a16:creationId xmlns:a16="http://schemas.microsoft.com/office/drawing/2014/main" id="{94087F36-9C29-1893-46DE-6165E619DBAC}"/>
              </a:ext>
            </a:extLst>
          </p:cNvPr>
          <p:cNvSpPr/>
          <p:nvPr/>
        </p:nvSpPr>
        <p:spPr>
          <a:xfrm>
            <a:off x="418779" y="1451044"/>
            <a:ext cx="2895362" cy="301525"/>
          </a:xfrm>
          <a:prstGeom prst="rect">
            <a:avLst/>
          </a:prstGeom>
          <a:noFill/>
          <a:ln/>
        </p:spPr>
        <p:txBody>
          <a:bodyPr wrap="none" lIns="0" tIns="0" rIns="0" bIns="0" rtlCol="0" anchor="t"/>
          <a:lstStyle/>
          <a:p>
            <a:pPr marL="0" indent="0" algn="l">
              <a:lnSpc>
                <a:spcPts val="2200"/>
              </a:lnSpc>
              <a:buNone/>
            </a:pPr>
            <a:r>
              <a:rPr lang="en-US" sz="1750" b="1" dirty="0">
                <a:solidFill>
                  <a:schemeClr val="tx1">
                    <a:lumMod val="95000"/>
                    <a:lumOff val="5000"/>
                  </a:schemeClr>
                </a:solidFill>
                <a:latin typeface="Unbounded Bold" pitchFamily="34" charset="0"/>
                <a:ea typeface="Unbounded Bold" pitchFamily="34" charset="-122"/>
                <a:cs typeface="Unbounded Bold" pitchFamily="34" charset="-120"/>
              </a:rPr>
              <a:t>Software Essentials</a:t>
            </a:r>
            <a:endParaRPr lang="en-US" sz="1750" dirty="0">
              <a:solidFill>
                <a:schemeClr val="tx1">
                  <a:lumMod val="95000"/>
                  <a:lumOff val="5000"/>
                </a:schemeClr>
              </a:solidFill>
            </a:endParaRPr>
          </a:p>
        </p:txBody>
      </p:sp>
      <p:sp>
        <p:nvSpPr>
          <p:cNvPr id="8" name="Text 3">
            <a:extLst>
              <a:ext uri="{FF2B5EF4-FFF2-40B4-BE49-F238E27FC236}">
                <a16:creationId xmlns:a16="http://schemas.microsoft.com/office/drawing/2014/main" id="{7F844040-3F05-59C5-8B0F-EFDF05AE0D83}"/>
              </a:ext>
            </a:extLst>
          </p:cNvPr>
          <p:cNvSpPr/>
          <p:nvPr/>
        </p:nvSpPr>
        <p:spPr>
          <a:xfrm>
            <a:off x="418779" y="1796383"/>
            <a:ext cx="6309360" cy="287655"/>
          </a:xfrm>
          <a:prstGeom prst="rect">
            <a:avLst/>
          </a:prstGeom>
          <a:noFill/>
          <a:ln/>
        </p:spPr>
        <p:txBody>
          <a:bodyPr wrap="none" lIns="0" tIns="0" rIns="0" bIns="0" rtlCol="0" anchor="t"/>
          <a:lstStyle/>
          <a:p>
            <a:pPr marL="342900" indent="-342900" algn="l">
              <a:lnSpc>
                <a:spcPts val="2250"/>
              </a:lnSpc>
              <a:buSzPct val="100000"/>
              <a:buChar char="•"/>
            </a:pPr>
            <a:r>
              <a:rPr lang="en-US" sz="1400" b="1" dirty="0">
                <a:solidFill>
                  <a:schemeClr val="tx1">
                    <a:lumMod val="95000"/>
                    <a:lumOff val="5000"/>
                  </a:schemeClr>
                </a:solidFill>
                <a:latin typeface="Open Sans" pitchFamily="34" charset="0"/>
                <a:ea typeface="Open Sans" pitchFamily="34" charset="-122"/>
                <a:cs typeface="Open Sans" pitchFamily="34" charset="-120"/>
              </a:rPr>
              <a:t>Python</a:t>
            </a:r>
            <a:r>
              <a:rPr lang="en-US" sz="1400" dirty="0">
                <a:solidFill>
                  <a:schemeClr val="tx1">
                    <a:lumMod val="95000"/>
                    <a:lumOff val="5000"/>
                  </a:schemeClr>
                </a:solidFill>
                <a:latin typeface="Open Sans" pitchFamily="34" charset="0"/>
                <a:ea typeface="Open Sans" pitchFamily="34" charset="-122"/>
                <a:cs typeface="Open Sans" pitchFamily="34" charset="-120"/>
              </a:rPr>
              <a:t>: Primary programming language.</a:t>
            </a:r>
            <a:endParaRPr lang="en-US" sz="1400" dirty="0">
              <a:solidFill>
                <a:schemeClr val="tx1">
                  <a:lumMod val="95000"/>
                  <a:lumOff val="5000"/>
                </a:schemeClr>
              </a:solidFill>
            </a:endParaRPr>
          </a:p>
        </p:txBody>
      </p:sp>
      <p:sp>
        <p:nvSpPr>
          <p:cNvPr id="9" name="Text 4">
            <a:extLst>
              <a:ext uri="{FF2B5EF4-FFF2-40B4-BE49-F238E27FC236}">
                <a16:creationId xmlns:a16="http://schemas.microsoft.com/office/drawing/2014/main" id="{08580D46-D3D3-C6F3-018B-B1486470D063}"/>
              </a:ext>
            </a:extLst>
          </p:cNvPr>
          <p:cNvSpPr/>
          <p:nvPr/>
        </p:nvSpPr>
        <p:spPr>
          <a:xfrm>
            <a:off x="418779" y="2119074"/>
            <a:ext cx="6309360" cy="287655"/>
          </a:xfrm>
          <a:prstGeom prst="rect">
            <a:avLst/>
          </a:prstGeom>
          <a:noFill/>
          <a:ln/>
        </p:spPr>
        <p:txBody>
          <a:bodyPr wrap="none" lIns="0" tIns="0" rIns="0" bIns="0" rtlCol="0" anchor="t"/>
          <a:lstStyle/>
          <a:p>
            <a:pPr marL="342900" indent="-342900" algn="l">
              <a:lnSpc>
                <a:spcPts val="2250"/>
              </a:lnSpc>
              <a:buSzPct val="100000"/>
              <a:buChar char="•"/>
            </a:pPr>
            <a:r>
              <a:rPr lang="en-US" sz="1400" b="1" dirty="0">
                <a:solidFill>
                  <a:schemeClr val="tx1">
                    <a:lumMod val="95000"/>
                    <a:lumOff val="5000"/>
                  </a:schemeClr>
                </a:solidFill>
                <a:latin typeface="Open Sans" pitchFamily="34" charset="0"/>
                <a:ea typeface="Open Sans" pitchFamily="34" charset="-122"/>
                <a:cs typeface="Open Sans" pitchFamily="34" charset="-120"/>
              </a:rPr>
              <a:t>Google </a:t>
            </a:r>
            <a:r>
              <a:rPr lang="en-US" sz="1400" b="1" dirty="0" err="1">
                <a:solidFill>
                  <a:schemeClr val="tx1">
                    <a:lumMod val="95000"/>
                    <a:lumOff val="5000"/>
                  </a:schemeClr>
                </a:solidFill>
                <a:latin typeface="Open Sans" pitchFamily="34" charset="0"/>
                <a:ea typeface="Open Sans" pitchFamily="34" charset="-122"/>
                <a:cs typeface="Open Sans" pitchFamily="34" charset="-120"/>
              </a:rPr>
              <a:t>Colab</a:t>
            </a:r>
            <a:r>
              <a:rPr lang="en-US" sz="1400" dirty="0">
                <a:solidFill>
                  <a:schemeClr val="tx1">
                    <a:lumMod val="95000"/>
                    <a:lumOff val="5000"/>
                  </a:schemeClr>
                </a:solidFill>
                <a:latin typeface="Open Sans" pitchFamily="34" charset="0"/>
                <a:ea typeface="Open Sans" pitchFamily="34" charset="-122"/>
                <a:cs typeface="Open Sans" pitchFamily="34" charset="-120"/>
              </a:rPr>
              <a:t>: Cloud-based environment for development.</a:t>
            </a:r>
            <a:endParaRPr lang="en-US" sz="1400" dirty="0">
              <a:solidFill>
                <a:schemeClr val="tx1">
                  <a:lumMod val="95000"/>
                  <a:lumOff val="5000"/>
                </a:schemeClr>
              </a:solidFill>
            </a:endParaRPr>
          </a:p>
        </p:txBody>
      </p:sp>
      <p:sp>
        <p:nvSpPr>
          <p:cNvPr id="10" name="Text 5">
            <a:extLst>
              <a:ext uri="{FF2B5EF4-FFF2-40B4-BE49-F238E27FC236}">
                <a16:creationId xmlns:a16="http://schemas.microsoft.com/office/drawing/2014/main" id="{C54196B4-861F-0BF5-6ED5-C0FF765FF5B1}"/>
              </a:ext>
            </a:extLst>
          </p:cNvPr>
          <p:cNvSpPr/>
          <p:nvPr/>
        </p:nvSpPr>
        <p:spPr>
          <a:xfrm>
            <a:off x="418779" y="2450543"/>
            <a:ext cx="6309360" cy="287655"/>
          </a:xfrm>
          <a:prstGeom prst="rect">
            <a:avLst/>
          </a:prstGeom>
          <a:noFill/>
          <a:ln/>
        </p:spPr>
        <p:txBody>
          <a:bodyPr wrap="none" lIns="0" tIns="0" rIns="0" bIns="0" rtlCol="0" anchor="t"/>
          <a:lstStyle/>
          <a:p>
            <a:pPr marL="342900" indent="-342900" algn="l">
              <a:lnSpc>
                <a:spcPts val="2250"/>
              </a:lnSpc>
              <a:buSzPct val="100000"/>
              <a:buChar char="•"/>
            </a:pPr>
            <a:r>
              <a:rPr lang="en-US" sz="1400" b="1">
                <a:solidFill>
                  <a:schemeClr val="tx1">
                    <a:lumMod val="95000"/>
                    <a:lumOff val="5000"/>
                  </a:schemeClr>
                </a:solidFill>
                <a:latin typeface="Open Sans" pitchFamily="34" charset="0"/>
                <a:ea typeface="Open Sans" pitchFamily="34" charset="-122"/>
                <a:cs typeface="Open Sans" pitchFamily="34" charset="-120"/>
              </a:rPr>
              <a:t>Hugging Face</a:t>
            </a:r>
            <a:r>
              <a:rPr lang="en-US" sz="1400">
                <a:solidFill>
                  <a:schemeClr val="tx1">
                    <a:lumMod val="95000"/>
                    <a:lumOff val="5000"/>
                  </a:schemeClr>
                </a:solidFill>
                <a:latin typeface="Open Sans" pitchFamily="34" charset="0"/>
                <a:ea typeface="Open Sans" pitchFamily="34" charset="-122"/>
                <a:cs typeface="Open Sans" pitchFamily="34" charset="-120"/>
              </a:rPr>
              <a:t>: Platform for models and datasets.</a:t>
            </a:r>
            <a:endParaRPr lang="en-US" sz="1400">
              <a:solidFill>
                <a:schemeClr val="tx1">
                  <a:lumMod val="95000"/>
                  <a:lumOff val="5000"/>
                </a:schemeClr>
              </a:solidFill>
            </a:endParaRPr>
          </a:p>
        </p:txBody>
      </p:sp>
      <p:sp>
        <p:nvSpPr>
          <p:cNvPr id="11" name="Text 6">
            <a:extLst>
              <a:ext uri="{FF2B5EF4-FFF2-40B4-BE49-F238E27FC236}">
                <a16:creationId xmlns:a16="http://schemas.microsoft.com/office/drawing/2014/main" id="{430979AB-FD84-D3EB-91F9-9BFFC3086B94}"/>
              </a:ext>
            </a:extLst>
          </p:cNvPr>
          <p:cNvSpPr/>
          <p:nvPr/>
        </p:nvSpPr>
        <p:spPr>
          <a:xfrm>
            <a:off x="418779" y="2826126"/>
            <a:ext cx="6309360" cy="287655"/>
          </a:xfrm>
          <a:prstGeom prst="rect">
            <a:avLst/>
          </a:prstGeom>
          <a:noFill/>
          <a:ln/>
        </p:spPr>
        <p:txBody>
          <a:bodyPr wrap="none" lIns="0" tIns="0" rIns="0" bIns="0" rtlCol="0" anchor="t"/>
          <a:lstStyle/>
          <a:p>
            <a:pPr marL="342900" indent="-342900" algn="l">
              <a:lnSpc>
                <a:spcPts val="2250"/>
              </a:lnSpc>
              <a:buSzPct val="100000"/>
              <a:buChar char="•"/>
            </a:pPr>
            <a:r>
              <a:rPr lang="en-US" sz="1400" b="1">
                <a:solidFill>
                  <a:schemeClr val="tx1">
                    <a:lumMod val="95000"/>
                    <a:lumOff val="5000"/>
                  </a:schemeClr>
                </a:solidFill>
                <a:latin typeface="Open Sans" pitchFamily="34" charset="0"/>
                <a:ea typeface="Open Sans" pitchFamily="34" charset="-122"/>
                <a:cs typeface="Open Sans" pitchFamily="34" charset="-120"/>
              </a:rPr>
              <a:t>PyTorch</a:t>
            </a:r>
            <a:r>
              <a:rPr lang="en-US" sz="1400">
                <a:solidFill>
                  <a:schemeClr val="tx1">
                    <a:lumMod val="95000"/>
                    <a:lumOff val="5000"/>
                  </a:schemeClr>
                </a:solidFill>
                <a:latin typeface="Open Sans" pitchFamily="34" charset="0"/>
                <a:ea typeface="Open Sans" pitchFamily="34" charset="-122"/>
                <a:cs typeface="Open Sans" pitchFamily="34" charset="-120"/>
              </a:rPr>
              <a:t>: Deep learning framework.</a:t>
            </a:r>
            <a:endParaRPr lang="en-US" sz="1400">
              <a:solidFill>
                <a:schemeClr val="tx1">
                  <a:lumMod val="95000"/>
                  <a:lumOff val="5000"/>
                </a:schemeClr>
              </a:solidFill>
            </a:endParaRPr>
          </a:p>
        </p:txBody>
      </p:sp>
      <p:sp>
        <p:nvSpPr>
          <p:cNvPr id="14" name="Text 8">
            <a:extLst>
              <a:ext uri="{FF2B5EF4-FFF2-40B4-BE49-F238E27FC236}">
                <a16:creationId xmlns:a16="http://schemas.microsoft.com/office/drawing/2014/main" id="{AAC598BE-B124-870A-3B2D-909AA8679261}"/>
              </a:ext>
            </a:extLst>
          </p:cNvPr>
          <p:cNvSpPr/>
          <p:nvPr/>
        </p:nvSpPr>
        <p:spPr>
          <a:xfrm>
            <a:off x="418779" y="3230402"/>
            <a:ext cx="2962751" cy="280988"/>
          </a:xfrm>
          <a:prstGeom prst="rect">
            <a:avLst/>
          </a:prstGeom>
          <a:noFill/>
          <a:ln/>
        </p:spPr>
        <p:txBody>
          <a:bodyPr wrap="none" lIns="0" tIns="0" rIns="0" bIns="0" rtlCol="0" anchor="t"/>
          <a:lstStyle/>
          <a:p>
            <a:pPr marL="0" indent="0" algn="l">
              <a:lnSpc>
                <a:spcPts val="2200"/>
              </a:lnSpc>
              <a:buNone/>
            </a:pPr>
            <a:r>
              <a:rPr lang="en-US" sz="1750" b="1" dirty="0">
                <a:solidFill>
                  <a:srgbClr val="000000"/>
                </a:solidFill>
                <a:latin typeface="Unbounded Bold" pitchFamily="34" charset="0"/>
                <a:ea typeface="Unbounded Bold" pitchFamily="34" charset="-122"/>
                <a:cs typeface="Unbounded Bold" pitchFamily="34" charset="-120"/>
              </a:rPr>
              <a:t>Hardware Minimums</a:t>
            </a:r>
            <a:endParaRPr lang="en-US" sz="1750" dirty="0"/>
          </a:p>
        </p:txBody>
      </p:sp>
      <p:sp>
        <p:nvSpPr>
          <p:cNvPr id="15" name="Text 9">
            <a:extLst>
              <a:ext uri="{FF2B5EF4-FFF2-40B4-BE49-F238E27FC236}">
                <a16:creationId xmlns:a16="http://schemas.microsoft.com/office/drawing/2014/main" id="{2AB5225C-CDE1-6564-8EE7-181681AE761A}"/>
              </a:ext>
            </a:extLst>
          </p:cNvPr>
          <p:cNvSpPr/>
          <p:nvPr/>
        </p:nvSpPr>
        <p:spPr>
          <a:xfrm>
            <a:off x="569572" y="3613963"/>
            <a:ext cx="5489138" cy="575310"/>
          </a:xfrm>
          <a:prstGeom prst="rect">
            <a:avLst/>
          </a:prstGeom>
          <a:noFill/>
          <a:ln/>
        </p:spPr>
        <p:txBody>
          <a:bodyPr wrap="square" lIns="0" tIns="0" rIns="0" bIns="0" rtlCol="0" anchor="t"/>
          <a:lstStyle/>
          <a:p>
            <a:pPr marL="0" indent="0" algn="l">
              <a:lnSpc>
                <a:spcPts val="2250"/>
              </a:lnSpc>
              <a:buNone/>
            </a:pPr>
            <a:r>
              <a:rPr lang="en-US" sz="1400">
                <a:solidFill>
                  <a:srgbClr val="000000"/>
                </a:solidFill>
                <a:latin typeface="Open Sans" pitchFamily="34" charset="0"/>
                <a:ea typeface="Open Sans" pitchFamily="34" charset="-122"/>
                <a:cs typeface="Open Sans" pitchFamily="34" charset="-120"/>
              </a:rPr>
              <a:t>A </a:t>
            </a:r>
            <a:r>
              <a:rPr lang="en-US" sz="1400" b="1">
                <a:solidFill>
                  <a:srgbClr val="000000"/>
                </a:solidFill>
                <a:latin typeface="Open Sans" pitchFamily="34" charset="0"/>
                <a:ea typeface="Open Sans" pitchFamily="34" charset="-122"/>
                <a:cs typeface="Open Sans" pitchFamily="34" charset="-120"/>
              </a:rPr>
              <a:t>CPU/GPU with at least 8GB RAM</a:t>
            </a:r>
            <a:r>
              <a:rPr lang="en-US" sz="1400">
                <a:solidFill>
                  <a:srgbClr val="000000"/>
                </a:solidFill>
                <a:latin typeface="Open Sans" pitchFamily="34" charset="0"/>
                <a:ea typeface="Open Sans" pitchFamily="34" charset="-122"/>
                <a:cs typeface="Open Sans" pitchFamily="34" charset="-120"/>
              </a:rPr>
              <a:t> is recommended for optimal performance during training and inference.</a:t>
            </a:r>
            <a:endParaRPr lang="en-US" sz="1400"/>
          </a:p>
        </p:txBody>
      </p:sp>
      <p:sp>
        <p:nvSpPr>
          <p:cNvPr id="16" name="Text 10">
            <a:extLst>
              <a:ext uri="{FF2B5EF4-FFF2-40B4-BE49-F238E27FC236}">
                <a16:creationId xmlns:a16="http://schemas.microsoft.com/office/drawing/2014/main" id="{C6E5E0D7-BAD8-3FE3-8AF3-17DC4E95F91E}"/>
              </a:ext>
            </a:extLst>
          </p:cNvPr>
          <p:cNvSpPr/>
          <p:nvPr/>
        </p:nvSpPr>
        <p:spPr>
          <a:xfrm>
            <a:off x="418779" y="4252138"/>
            <a:ext cx="2247424" cy="280988"/>
          </a:xfrm>
          <a:prstGeom prst="rect">
            <a:avLst/>
          </a:prstGeom>
          <a:noFill/>
          <a:ln/>
        </p:spPr>
        <p:txBody>
          <a:bodyPr wrap="none" lIns="0" tIns="0" rIns="0" bIns="0" rtlCol="0" anchor="t"/>
          <a:lstStyle/>
          <a:p>
            <a:pPr marL="0" indent="0" algn="l">
              <a:lnSpc>
                <a:spcPts val="2200"/>
              </a:lnSpc>
              <a:buNone/>
            </a:pPr>
            <a:r>
              <a:rPr lang="en-US" sz="1750" b="1">
                <a:solidFill>
                  <a:schemeClr val="tx1">
                    <a:lumMod val="95000"/>
                    <a:lumOff val="5000"/>
                  </a:schemeClr>
                </a:solidFill>
                <a:latin typeface="Unbounded Bold" pitchFamily="34" charset="0"/>
                <a:ea typeface="Unbounded Bold" pitchFamily="34" charset="-122"/>
                <a:cs typeface="Unbounded Bold" pitchFamily="34" charset="-120"/>
              </a:rPr>
              <a:t>Key Libraries</a:t>
            </a:r>
            <a:endParaRPr lang="en-US" sz="1750">
              <a:solidFill>
                <a:schemeClr val="tx1">
                  <a:lumMod val="95000"/>
                  <a:lumOff val="5000"/>
                </a:schemeClr>
              </a:solidFill>
            </a:endParaRPr>
          </a:p>
        </p:txBody>
      </p:sp>
      <p:sp>
        <p:nvSpPr>
          <p:cNvPr id="17" name="Text 11">
            <a:extLst>
              <a:ext uri="{FF2B5EF4-FFF2-40B4-BE49-F238E27FC236}">
                <a16:creationId xmlns:a16="http://schemas.microsoft.com/office/drawing/2014/main" id="{AEECD2DD-1EEB-B2D5-FDED-54E7CE36A692}"/>
              </a:ext>
            </a:extLst>
          </p:cNvPr>
          <p:cNvSpPr/>
          <p:nvPr/>
        </p:nvSpPr>
        <p:spPr>
          <a:xfrm>
            <a:off x="418779" y="4642187"/>
            <a:ext cx="6309360" cy="287655"/>
          </a:xfrm>
          <a:prstGeom prst="rect">
            <a:avLst/>
          </a:prstGeom>
          <a:noFill/>
          <a:ln/>
        </p:spPr>
        <p:txBody>
          <a:bodyPr wrap="none" lIns="0" tIns="0" rIns="0" bIns="0" rtlCol="0" anchor="t"/>
          <a:lstStyle/>
          <a:p>
            <a:pPr marL="342900" indent="-342900" algn="l">
              <a:lnSpc>
                <a:spcPts val="2250"/>
              </a:lnSpc>
              <a:buSzPct val="100000"/>
              <a:buChar char="•"/>
            </a:pPr>
            <a:r>
              <a:rPr lang="en-US" sz="1400" b="1">
                <a:solidFill>
                  <a:schemeClr val="tx1">
                    <a:lumMod val="95000"/>
                    <a:lumOff val="5000"/>
                  </a:schemeClr>
                </a:solidFill>
                <a:latin typeface="Open Sans" pitchFamily="34" charset="0"/>
                <a:ea typeface="Open Sans" pitchFamily="34" charset="-122"/>
                <a:cs typeface="Open Sans" pitchFamily="34" charset="-120"/>
              </a:rPr>
              <a:t>Transformers</a:t>
            </a:r>
            <a:r>
              <a:rPr lang="en-US" sz="1400">
                <a:solidFill>
                  <a:schemeClr val="tx1">
                    <a:lumMod val="95000"/>
                    <a:lumOff val="5000"/>
                  </a:schemeClr>
                </a:solidFill>
                <a:latin typeface="Open Sans" pitchFamily="34" charset="0"/>
                <a:ea typeface="Open Sans" pitchFamily="34" charset="-122"/>
                <a:cs typeface="Open Sans" pitchFamily="34" charset="-120"/>
              </a:rPr>
              <a:t>: For pre-trained models.</a:t>
            </a:r>
            <a:endParaRPr lang="en-US" sz="1400">
              <a:solidFill>
                <a:schemeClr val="tx1">
                  <a:lumMod val="95000"/>
                  <a:lumOff val="5000"/>
                </a:schemeClr>
              </a:solidFill>
            </a:endParaRPr>
          </a:p>
        </p:txBody>
      </p:sp>
      <p:sp>
        <p:nvSpPr>
          <p:cNvPr id="18" name="Text 12">
            <a:extLst>
              <a:ext uri="{FF2B5EF4-FFF2-40B4-BE49-F238E27FC236}">
                <a16:creationId xmlns:a16="http://schemas.microsoft.com/office/drawing/2014/main" id="{0332982E-3E6A-D869-7A4E-5549EE485FC8}"/>
              </a:ext>
            </a:extLst>
          </p:cNvPr>
          <p:cNvSpPr/>
          <p:nvPr/>
        </p:nvSpPr>
        <p:spPr>
          <a:xfrm>
            <a:off x="418779" y="4946462"/>
            <a:ext cx="6309360" cy="287655"/>
          </a:xfrm>
          <a:prstGeom prst="rect">
            <a:avLst/>
          </a:prstGeom>
          <a:noFill/>
          <a:ln/>
        </p:spPr>
        <p:txBody>
          <a:bodyPr wrap="none" lIns="0" tIns="0" rIns="0" bIns="0" rtlCol="0" anchor="t"/>
          <a:lstStyle/>
          <a:p>
            <a:pPr marL="342900" indent="-342900" algn="l">
              <a:lnSpc>
                <a:spcPts val="2250"/>
              </a:lnSpc>
              <a:buSzPct val="100000"/>
              <a:buChar char="•"/>
            </a:pPr>
            <a:r>
              <a:rPr lang="en-US" sz="1400" b="1">
                <a:solidFill>
                  <a:schemeClr val="tx1">
                    <a:lumMod val="95000"/>
                    <a:lumOff val="5000"/>
                  </a:schemeClr>
                </a:solidFill>
                <a:latin typeface="Open Sans" pitchFamily="34" charset="0"/>
                <a:ea typeface="Open Sans" pitchFamily="34" charset="-122"/>
                <a:cs typeface="Open Sans" pitchFamily="34" charset="-120"/>
              </a:rPr>
              <a:t>Datasets</a:t>
            </a:r>
            <a:r>
              <a:rPr lang="en-US" sz="1400">
                <a:solidFill>
                  <a:schemeClr val="tx1">
                    <a:lumMod val="95000"/>
                    <a:lumOff val="5000"/>
                  </a:schemeClr>
                </a:solidFill>
                <a:latin typeface="Open Sans" pitchFamily="34" charset="0"/>
                <a:ea typeface="Open Sans" pitchFamily="34" charset="-122"/>
                <a:cs typeface="Open Sans" pitchFamily="34" charset="-120"/>
              </a:rPr>
              <a:t>: For data handling.</a:t>
            </a:r>
            <a:endParaRPr lang="en-US" sz="1400">
              <a:solidFill>
                <a:schemeClr val="tx1">
                  <a:lumMod val="95000"/>
                  <a:lumOff val="5000"/>
                </a:schemeClr>
              </a:solidFill>
            </a:endParaRPr>
          </a:p>
        </p:txBody>
      </p:sp>
      <p:sp>
        <p:nvSpPr>
          <p:cNvPr id="19" name="Text 13">
            <a:extLst>
              <a:ext uri="{FF2B5EF4-FFF2-40B4-BE49-F238E27FC236}">
                <a16:creationId xmlns:a16="http://schemas.microsoft.com/office/drawing/2014/main" id="{EFC98F5B-1C11-4E06-6F71-3E4AB3607223}"/>
              </a:ext>
            </a:extLst>
          </p:cNvPr>
          <p:cNvSpPr/>
          <p:nvPr/>
        </p:nvSpPr>
        <p:spPr>
          <a:xfrm>
            <a:off x="418779" y="5273874"/>
            <a:ext cx="6309360" cy="287655"/>
          </a:xfrm>
          <a:prstGeom prst="rect">
            <a:avLst/>
          </a:prstGeom>
          <a:noFill/>
          <a:ln/>
        </p:spPr>
        <p:txBody>
          <a:bodyPr wrap="none" lIns="0" tIns="0" rIns="0" bIns="0" rtlCol="0" anchor="t"/>
          <a:lstStyle/>
          <a:p>
            <a:pPr marL="342900" indent="-342900" algn="l">
              <a:lnSpc>
                <a:spcPts val="2250"/>
              </a:lnSpc>
              <a:buSzPct val="100000"/>
              <a:buChar char="•"/>
            </a:pPr>
            <a:r>
              <a:rPr lang="en-US" sz="1400" b="1">
                <a:solidFill>
                  <a:schemeClr val="tx1">
                    <a:lumMod val="95000"/>
                    <a:lumOff val="5000"/>
                  </a:schemeClr>
                </a:solidFill>
                <a:latin typeface="Open Sans" pitchFamily="34" charset="0"/>
                <a:ea typeface="Open Sans" pitchFamily="34" charset="-122"/>
                <a:cs typeface="Open Sans" pitchFamily="34" charset="-120"/>
              </a:rPr>
              <a:t>PEFT</a:t>
            </a:r>
            <a:r>
              <a:rPr lang="en-US" sz="1400">
                <a:solidFill>
                  <a:schemeClr val="tx1">
                    <a:lumMod val="95000"/>
                    <a:lumOff val="5000"/>
                  </a:schemeClr>
                </a:solidFill>
                <a:latin typeface="Open Sans" pitchFamily="34" charset="0"/>
                <a:ea typeface="Open Sans" pitchFamily="34" charset="-122"/>
                <a:cs typeface="Open Sans" pitchFamily="34" charset="-120"/>
              </a:rPr>
              <a:t>: For efficient fine-tuning (LoRA/QLoRA).</a:t>
            </a:r>
            <a:endParaRPr lang="en-US" sz="1400">
              <a:solidFill>
                <a:schemeClr val="tx1">
                  <a:lumMod val="95000"/>
                  <a:lumOff val="5000"/>
                </a:schemeClr>
              </a:solidFill>
            </a:endParaRPr>
          </a:p>
        </p:txBody>
      </p:sp>
    </p:spTree>
    <p:extLst>
      <p:ext uri="{BB962C8B-B14F-4D97-AF65-F5344CB8AC3E}">
        <p14:creationId xmlns:p14="http://schemas.microsoft.com/office/powerpoint/2010/main" val="328290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down)">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5D57D60-908C-77F5-8A5A-3A26585EE729}"/>
              </a:ext>
            </a:extLst>
          </p:cNvPr>
          <p:cNvPicPr>
            <a:picLocks noChangeAspect="1"/>
          </p:cNvPicPr>
          <p:nvPr/>
        </p:nvPicPr>
        <p:blipFill>
          <a:blip r:embed="rId3"/>
          <a:stretch>
            <a:fillRect/>
          </a:stretch>
        </p:blipFill>
        <p:spPr>
          <a:xfrm>
            <a:off x="-89452" y="0"/>
            <a:ext cx="12192000" cy="6858000"/>
          </a:xfrm>
          <a:prstGeom prst="rect">
            <a:avLst/>
          </a:prstGeom>
        </p:spPr>
      </p:pic>
    </p:spTree>
    <p:extLst>
      <p:ext uri="{BB962C8B-B14F-4D97-AF65-F5344CB8AC3E}">
        <p14:creationId xmlns:p14="http://schemas.microsoft.com/office/powerpoint/2010/main" val="3069036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9F1E2CF-89C9-C0E4-D4EF-FCE614B77BA8}"/>
              </a:ext>
            </a:extLst>
          </p:cNvPr>
          <p:cNvSpPr txBox="1"/>
          <p:nvPr/>
        </p:nvSpPr>
        <p:spPr>
          <a:xfrm>
            <a:off x="987284" y="2006949"/>
            <a:ext cx="8607287" cy="1200329"/>
          </a:xfrm>
          <a:prstGeom prst="rect">
            <a:avLst/>
          </a:prstGeom>
          <a:noFill/>
        </p:spPr>
        <p:txBody>
          <a:bodyPr wrap="square" rtlCol="0">
            <a:spAutoFit/>
          </a:bodyPr>
          <a:lstStyle/>
          <a:p>
            <a:r>
              <a:rPr lang="en-US" b="1"/>
              <a:t>Authentication Module</a:t>
            </a:r>
            <a:endParaRPr lang="en-US"/>
          </a:p>
          <a:p>
            <a:pPr marL="285750" indent="-285750">
              <a:buFont typeface="Arial" panose="020B0604020202020204" pitchFamily="34" charset="0"/>
              <a:buChar char="•"/>
            </a:pPr>
            <a:r>
              <a:rPr lang="en-US"/>
              <a:t>Handles user registration and login verification.</a:t>
            </a:r>
          </a:p>
          <a:p>
            <a:pPr marL="285750" indent="-285750">
              <a:buFont typeface="Arial" panose="020B0604020202020204" pitchFamily="34" charset="0"/>
              <a:buChar char="•"/>
            </a:pPr>
            <a:r>
              <a:rPr lang="en-US"/>
              <a:t>Ensures secure access to the system.</a:t>
            </a:r>
          </a:p>
          <a:p>
            <a:endParaRPr lang="en-IN"/>
          </a:p>
        </p:txBody>
      </p:sp>
      <p:sp>
        <p:nvSpPr>
          <p:cNvPr id="6" name="TextBox 5">
            <a:extLst>
              <a:ext uri="{FF2B5EF4-FFF2-40B4-BE49-F238E27FC236}">
                <a16:creationId xmlns:a16="http://schemas.microsoft.com/office/drawing/2014/main" id="{7EF0D563-C5E7-024D-5C80-E4ED3D5905E4}"/>
              </a:ext>
            </a:extLst>
          </p:cNvPr>
          <p:cNvSpPr txBox="1"/>
          <p:nvPr/>
        </p:nvSpPr>
        <p:spPr>
          <a:xfrm>
            <a:off x="987285" y="1049732"/>
            <a:ext cx="8607287" cy="1200329"/>
          </a:xfrm>
          <a:prstGeom prst="rect">
            <a:avLst/>
          </a:prstGeom>
          <a:noFill/>
        </p:spPr>
        <p:txBody>
          <a:bodyPr wrap="square" rtlCol="0">
            <a:spAutoFit/>
          </a:bodyPr>
          <a:lstStyle/>
          <a:p>
            <a:r>
              <a:rPr lang="en-US" b="1" dirty="0"/>
              <a:t>User Interface (UI) Module</a:t>
            </a:r>
            <a:endParaRPr lang="en-US" dirty="0"/>
          </a:p>
          <a:p>
            <a:r>
              <a:rPr lang="en-US" dirty="0"/>
              <a:t>        Allows users to interact with the bot through web pages or a chat interface.</a:t>
            </a:r>
          </a:p>
          <a:p>
            <a:r>
              <a:rPr lang="en-US" dirty="0"/>
              <a:t>Includes login, signup, and chat sections.</a:t>
            </a:r>
          </a:p>
          <a:p>
            <a:endParaRPr lang="en-IN" dirty="0"/>
          </a:p>
        </p:txBody>
      </p:sp>
      <p:sp>
        <p:nvSpPr>
          <p:cNvPr id="7" name="TextBox 6">
            <a:extLst>
              <a:ext uri="{FF2B5EF4-FFF2-40B4-BE49-F238E27FC236}">
                <a16:creationId xmlns:a16="http://schemas.microsoft.com/office/drawing/2014/main" id="{F8063D1A-D2A5-1F19-D013-EEED38053258}"/>
              </a:ext>
            </a:extLst>
          </p:cNvPr>
          <p:cNvSpPr txBox="1"/>
          <p:nvPr/>
        </p:nvSpPr>
        <p:spPr>
          <a:xfrm>
            <a:off x="987281" y="2929002"/>
            <a:ext cx="8607287" cy="1200329"/>
          </a:xfrm>
          <a:prstGeom prst="rect">
            <a:avLst/>
          </a:prstGeom>
          <a:noFill/>
        </p:spPr>
        <p:txBody>
          <a:bodyPr wrap="square" rtlCol="0">
            <a:spAutoFit/>
          </a:bodyPr>
          <a:lstStyle/>
          <a:p>
            <a:r>
              <a:rPr lang="en-US" b="1"/>
              <a:t>Question Processing Module</a:t>
            </a:r>
            <a:endParaRPr lang="en-US"/>
          </a:p>
          <a:p>
            <a:pPr marL="285750" indent="-285750">
              <a:buFont typeface="Arial" panose="020B0604020202020204" pitchFamily="34" charset="0"/>
              <a:buChar char="•"/>
            </a:pPr>
            <a:r>
              <a:rPr lang="en-US"/>
              <a:t>Receives user queries and processes them for understanding.</a:t>
            </a:r>
          </a:p>
          <a:p>
            <a:pPr marL="285750" indent="-285750">
              <a:buFont typeface="Arial" panose="020B0604020202020204" pitchFamily="34" charset="0"/>
              <a:buChar char="•"/>
            </a:pPr>
            <a:r>
              <a:rPr lang="en-US"/>
              <a:t>Converts the input into a format usable by the AI model.</a:t>
            </a:r>
          </a:p>
          <a:p>
            <a:endParaRPr lang="en-IN"/>
          </a:p>
        </p:txBody>
      </p:sp>
      <p:sp>
        <p:nvSpPr>
          <p:cNvPr id="8" name="TextBox 7">
            <a:extLst>
              <a:ext uri="{FF2B5EF4-FFF2-40B4-BE49-F238E27FC236}">
                <a16:creationId xmlns:a16="http://schemas.microsoft.com/office/drawing/2014/main" id="{5718819E-5443-9BB9-1FC4-D10979183345}"/>
              </a:ext>
            </a:extLst>
          </p:cNvPr>
          <p:cNvSpPr txBox="1"/>
          <p:nvPr/>
        </p:nvSpPr>
        <p:spPr>
          <a:xfrm>
            <a:off x="987281" y="3808498"/>
            <a:ext cx="8607287" cy="1477328"/>
          </a:xfrm>
          <a:prstGeom prst="rect">
            <a:avLst/>
          </a:prstGeom>
          <a:noFill/>
        </p:spPr>
        <p:txBody>
          <a:bodyPr wrap="square" rtlCol="0">
            <a:spAutoFit/>
          </a:bodyPr>
          <a:lstStyle/>
          <a:p>
            <a:r>
              <a:rPr lang="en-US" b="1"/>
              <a:t>AI &amp; NLP Module</a:t>
            </a:r>
            <a:endParaRPr lang="en-US"/>
          </a:p>
          <a:p>
            <a:pPr marL="285750" indent="-285750">
              <a:buFont typeface="Arial" panose="020B0604020202020204" pitchFamily="34" charset="0"/>
              <a:buChar char="•"/>
            </a:pPr>
            <a:r>
              <a:rPr lang="en-US"/>
              <a:t>Uses Natural Language Processing to understand and analyze chemistry-related queries.</a:t>
            </a:r>
          </a:p>
          <a:p>
            <a:pPr marL="285750" indent="-285750">
              <a:buFont typeface="Arial" panose="020B0604020202020204" pitchFamily="34" charset="0"/>
              <a:buChar char="•"/>
            </a:pPr>
            <a:r>
              <a:rPr lang="en-US"/>
              <a:t>Generates accurate and relevant answers using the trained AI model.</a:t>
            </a:r>
          </a:p>
          <a:p>
            <a:endParaRPr lang="en-IN"/>
          </a:p>
        </p:txBody>
      </p:sp>
      <p:sp>
        <p:nvSpPr>
          <p:cNvPr id="9" name="TextBox 8">
            <a:extLst>
              <a:ext uri="{FF2B5EF4-FFF2-40B4-BE49-F238E27FC236}">
                <a16:creationId xmlns:a16="http://schemas.microsoft.com/office/drawing/2014/main" id="{B5B07DB2-A44F-C007-585C-E285C6014110}"/>
              </a:ext>
            </a:extLst>
          </p:cNvPr>
          <p:cNvSpPr txBox="1"/>
          <p:nvPr/>
        </p:nvSpPr>
        <p:spPr>
          <a:xfrm>
            <a:off x="987281" y="5008827"/>
            <a:ext cx="8607287" cy="923330"/>
          </a:xfrm>
          <a:prstGeom prst="rect">
            <a:avLst/>
          </a:prstGeom>
          <a:noFill/>
        </p:spPr>
        <p:txBody>
          <a:bodyPr wrap="square" rtlCol="0">
            <a:spAutoFit/>
          </a:bodyPr>
          <a:lstStyle/>
          <a:p>
            <a:r>
              <a:rPr lang="en-US" b="1"/>
              <a:t>Response Generation Module</a:t>
            </a:r>
            <a:endParaRPr lang="en-US"/>
          </a:p>
          <a:p>
            <a:r>
              <a:rPr lang="en-US"/>
              <a:t>          Forms and sends a clear, user-friendly response back to the user. Can include references, explanations, or examples for better understanding.</a:t>
            </a:r>
          </a:p>
        </p:txBody>
      </p:sp>
      <p:sp>
        <p:nvSpPr>
          <p:cNvPr id="2" name="Title 1">
            <a:extLst>
              <a:ext uri="{FF2B5EF4-FFF2-40B4-BE49-F238E27FC236}">
                <a16:creationId xmlns:a16="http://schemas.microsoft.com/office/drawing/2014/main" id="{312FCC99-C675-EBDB-0A38-563B0CE3647D}"/>
              </a:ext>
            </a:extLst>
          </p:cNvPr>
          <p:cNvSpPr>
            <a:spLocks noGrp="1"/>
          </p:cNvSpPr>
          <p:nvPr>
            <p:ph type="title"/>
          </p:nvPr>
        </p:nvSpPr>
        <p:spPr>
          <a:xfrm>
            <a:off x="626165" y="252367"/>
            <a:ext cx="7484165" cy="637513"/>
          </a:xfrm>
          <a:noFill/>
          <a:ln>
            <a:noFill/>
          </a:ln>
          <a:effectLst/>
        </p:spPr>
        <p:txBody>
          <a:bodyPr>
            <a:noAutofit/>
          </a:bodyPr>
          <a:lstStyle/>
          <a:p>
            <a:r>
              <a:rPr lang="en-US" dirty="0">
                <a:solidFill>
                  <a:schemeClr val="tx1">
                    <a:lumMod val="85000"/>
                    <a:lumOff val="15000"/>
                  </a:schemeClr>
                </a:solidFill>
                <a:latin typeface="Arial Rounded MT Bold" panose="020F0704030504030204" pitchFamily="34" charset="0"/>
              </a:rPr>
              <a:t>                 </a:t>
            </a:r>
            <a:r>
              <a:rPr lang="en-US" b="1" dirty="0">
                <a:solidFill>
                  <a:schemeClr val="tx1">
                    <a:lumMod val="85000"/>
                    <a:lumOff val="15000"/>
                  </a:schemeClr>
                </a:solidFill>
                <a:latin typeface="Arial Rounded MT Bold" panose="020F0704030504030204" pitchFamily="34" charset="0"/>
              </a:rPr>
              <a:t>SYSTEM MODULES:</a:t>
            </a:r>
            <a:endParaRPr lang="en-IN" b="1" dirty="0">
              <a:solidFill>
                <a:schemeClr val="tx1">
                  <a:lumMod val="85000"/>
                  <a:lumOff val="15000"/>
                </a:schemeClr>
              </a:solidFill>
              <a:latin typeface="Arial Rounded MT Bold" panose="020F0704030504030204" pitchFamily="34" charset="0"/>
            </a:endParaRPr>
          </a:p>
        </p:txBody>
      </p:sp>
    </p:spTree>
    <p:extLst>
      <p:ext uri="{BB962C8B-B14F-4D97-AF65-F5344CB8AC3E}">
        <p14:creationId xmlns:p14="http://schemas.microsoft.com/office/powerpoint/2010/main" val="2308932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AC689AF-79C9-2A28-CA7C-9F22B0953992}"/>
              </a:ext>
            </a:extLst>
          </p:cNvPr>
          <p:cNvPicPr>
            <a:picLocks noChangeAspect="1"/>
          </p:cNvPicPr>
          <p:nvPr/>
        </p:nvPicPr>
        <p:blipFill>
          <a:blip r:embed="rId3"/>
          <a:stretch>
            <a:fillRect/>
          </a:stretch>
        </p:blipFill>
        <p:spPr>
          <a:xfrm>
            <a:off x="-8857" y="0"/>
            <a:ext cx="12209717" cy="6858000"/>
          </a:xfrm>
          <a:prstGeom prst="rect">
            <a:avLst/>
          </a:prstGeom>
        </p:spPr>
      </p:pic>
    </p:spTree>
    <p:extLst>
      <p:ext uri="{BB962C8B-B14F-4D97-AF65-F5344CB8AC3E}">
        <p14:creationId xmlns:p14="http://schemas.microsoft.com/office/powerpoint/2010/main" val="298461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B99E679-68A3-E345-3A37-28F867A8B905}"/>
              </a:ext>
            </a:extLst>
          </p:cNvPr>
          <p:cNvSpPr>
            <a:spLocks noGrp="1"/>
          </p:cNvSpPr>
          <p:nvPr>
            <p:ph type="title"/>
          </p:nvPr>
        </p:nvSpPr>
        <p:spPr>
          <a:xfrm>
            <a:off x="309586" y="221973"/>
            <a:ext cx="8596668" cy="781879"/>
          </a:xfrm>
          <a:noFill/>
          <a:effectLst>
            <a:glow rad="139700">
              <a:schemeClr val="accent2">
                <a:lumMod val="75000"/>
                <a:alpha val="40000"/>
              </a:schemeClr>
            </a:glow>
            <a:outerShdw blurRad="50800" dist="38100" dir="2700000" algn="tl" rotWithShape="0">
              <a:prstClr val="black">
                <a:alpha val="40000"/>
              </a:prstClr>
            </a:outerShdw>
            <a:softEdge rad="127000"/>
          </a:effectLst>
        </p:spPr>
        <p:txBody>
          <a:bodyPr/>
          <a:lstStyle/>
          <a:p>
            <a:r>
              <a:rPr lang="en-US" b="1" dirty="0">
                <a:solidFill>
                  <a:schemeClr val="tx1">
                    <a:lumMod val="85000"/>
                    <a:lumOff val="15000"/>
                  </a:schemeClr>
                </a:solidFill>
                <a:latin typeface="Bahnschrift SemiBold" panose="020B0502040204020203" pitchFamily="34" charset="0"/>
              </a:rPr>
              <a:t>INPUT &amp; OUTPUT SCREENS:</a:t>
            </a:r>
            <a:endParaRPr lang="en-IN" b="1" dirty="0">
              <a:latin typeface="Bahnschrift SemiBold" panose="020B0502040204020203" pitchFamily="34" charset="0"/>
            </a:endParaRPr>
          </a:p>
        </p:txBody>
      </p:sp>
      <p:sp>
        <p:nvSpPr>
          <p:cNvPr id="6" name="TextBox 5">
            <a:extLst>
              <a:ext uri="{FF2B5EF4-FFF2-40B4-BE49-F238E27FC236}">
                <a16:creationId xmlns:a16="http://schemas.microsoft.com/office/drawing/2014/main" id="{CDDB9218-A2EC-F7CB-7590-5A349967B5FB}"/>
              </a:ext>
            </a:extLst>
          </p:cNvPr>
          <p:cNvSpPr txBox="1"/>
          <p:nvPr/>
        </p:nvSpPr>
        <p:spPr>
          <a:xfrm>
            <a:off x="506896" y="1133061"/>
            <a:ext cx="6311347" cy="1754326"/>
          </a:xfrm>
          <a:prstGeom prst="rect">
            <a:avLst/>
          </a:prstGeom>
          <a:pattFill prst="pct5">
            <a:fgClr>
              <a:schemeClr val="accent1"/>
            </a:fgClr>
            <a:bgClr>
              <a:schemeClr val="bg1"/>
            </a:bgClr>
          </a:pattFill>
        </p:spPr>
        <p:txBody>
          <a:bodyPr wrap="square" rtlCol="0">
            <a:spAutoFit/>
          </a:bodyPr>
          <a:lstStyle/>
          <a:p>
            <a:r>
              <a:rPr lang="en-US" b="1" dirty="0">
                <a:solidFill>
                  <a:schemeClr val="tx2">
                    <a:lumMod val="85000"/>
                    <a:lumOff val="15000"/>
                  </a:schemeClr>
                </a:solidFill>
              </a:rPr>
              <a:t>Input Screens :</a:t>
            </a:r>
          </a:p>
          <a:p>
            <a:pPr marL="285750" indent="-285750">
              <a:buFont typeface="Arial" panose="020B0604020202020204" pitchFamily="34" charset="0"/>
              <a:buChar char="•"/>
            </a:pPr>
            <a:r>
              <a:rPr lang="en-US" b="1" dirty="0">
                <a:solidFill>
                  <a:schemeClr val="tx2">
                    <a:lumMod val="85000"/>
                    <a:lumOff val="15000"/>
                  </a:schemeClr>
                </a:solidFill>
              </a:rPr>
              <a:t>Login / Registration Page -</a:t>
            </a:r>
            <a:br>
              <a:rPr lang="en-US" dirty="0">
                <a:solidFill>
                  <a:schemeClr val="tx2">
                    <a:lumMod val="85000"/>
                    <a:lumOff val="15000"/>
                  </a:schemeClr>
                </a:solidFill>
              </a:rPr>
            </a:br>
            <a:r>
              <a:rPr lang="en-US" dirty="0">
                <a:solidFill>
                  <a:schemeClr val="tx2">
                    <a:lumMod val="85000"/>
                    <a:lumOff val="15000"/>
                  </a:schemeClr>
                </a:solidFill>
              </a:rPr>
              <a:t>Allows users to create an account or log in securely.</a:t>
            </a:r>
          </a:p>
          <a:p>
            <a:pPr marL="285750" indent="-285750">
              <a:buFont typeface="Arial" panose="020B0604020202020204" pitchFamily="34" charset="0"/>
              <a:buChar char="•"/>
            </a:pPr>
            <a:r>
              <a:rPr lang="en-US" b="1" dirty="0">
                <a:solidFill>
                  <a:schemeClr val="tx2">
                    <a:lumMod val="85000"/>
                    <a:lumOff val="15000"/>
                  </a:schemeClr>
                </a:solidFill>
              </a:rPr>
              <a:t>Chat Input Screen -</a:t>
            </a:r>
            <a:br>
              <a:rPr lang="en-US" dirty="0">
                <a:solidFill>
                  <a:schemeClr val="tx2">
                    <a:lumMod val="85000"/>
                    <a:lumOff val="15000"/>
                  </a:schemeClr>
                </a:solidFill>
              </a:rPr>
            </a:br>
            <a:r>
              <a:rPr lang="en-US" dirty="0">
                <a:solidFill>
                  <a:schemeClr val="tx2">
                    <a:lumMod val="85000"/>
                    <a:lumOff val="15000"/>
                  </a:schemeClr>
                </a:solidFill>
              </a:rPr>
              <a:t>Users can type chemistry or scientific questions in a simple text box.</a:t>
            </a:r>
          </a:p>
        </p:txBody>
      </p:sp>
      <p:sp>
        <p:nvSpPr>
          <p:cNvPr id="7" name="TextBox 6">
            <a:extLst>
              <a:ext uri="{FF2B5EF4-FFF2-40B4-BE49-F238E27FC236}">
                <a16:creationId xmlns:a16="http://schemas.microsoft.com/office/drawing/2014/main" id="{B65FC15D-926C-1267-D45F-A39BFA8E31B6}"/>
              </a:ext>
            </a:extLst>
          </p:cNvPr>
          <p:cNvSpPr txBox="1"/>
          <p:nvPr/>
        </p:nvSpPr>
        <p:spPr>
          <a:xfrm>
            <a:off x="506896" y="3150704"/>
            <a:ext cx="6887817" cy="2031325"/>
          </a:xfrm>
          <a:prstGeom prst="rect">
            <a:avLst/>
          </a:prstGeom>
          <a:noFill/>
        </p:spPr>
        <p:txBody>
          <a:bodyPr wrap="square" rtlCol="0">
            <a:spAutoFit/>
          </a:bodyPr>
          <a:lstStyle/>
          <a:p>
            <a:r>
              <a:rPr lang="en-US" b="1" dirty="0">
                <a:solidFill>
                  <a:schemeClr val="tx2">
                    <a:lumMod val="85000"/>
                    <a:lumOff val="15000"/>
                  </a:schemeClr>
                </a:solidFill>
              </a:rPr>
              <a:t>Output Screens</a:t>
            </a:r>
          </a:p>
          <a:p>
            <a:pPr marL="285750" indent="-285750">
              <a:buFont typeface="Arial" panose="020B0604020202020204" pitchFamily="34" charset="0"/>
              <a:buChar char="•"/>
            </a:pPr>
            <a:r>
              <a:rPr lang="en-US" b="1" dirty="0">
                <a:solidFill>
                  <a:schemeClr val="tx2">
                    <a:lumMod val="85000"/>
                    <a:lumOff val="15000"/>
                  </a:schemeClr>
                </a:solidFill>
              </a:rPr>
              <a:t>Bot Response Screen</a:t>
            </a:r>
            <a:br>
              <a:rPr lang="en-US" dirty="0">
                <a:solidFill>
                  <a:schemeClr val="tx2">
                    <a:lumMod val="85000"/>
                    <a:lumOff val="15000"/>
                  </a:schemeClr>
                </a:solidFill>
              </a:rPr>
            </a:br>
            <a:r>
              <a:rPr lang="en-US" dirty="0">
                <a:solidFill>
                  <a:schemeClr val="tx2">
                    <a:lumMod val="85000"/>
                    <a:lumOff val="15000"/>
                  </a:schemeClr>
                </a:solidFill>
              </a:rPr>
              <a:t>Displays accurate and clear answers generated by the Chemistry Bot.</a:t>
            </a:r>
          </a:p>
          <a:p>
            <a:pPr marL="285750" indent="-285750">
              <a:buFont typeface="Arial" panose="020B0604020202020204" pitchFamily="34" charset="0"/>
              <a:buChar char="•"/>
            </a:pPr>
            <a:r>
              <a:rPr lang="en-US" b="1" dirty="0">
                <a:solidFill>
                  <a:schemeClr val="tx2">
                    <a:lumMod val="85000"/>
                    <a:lumOff val="15000"/>
                  </a:schemeClr>
                </a:solidFill>
              </a:rPr>
              <a:t>Chat History Screen</a:t>
            </a:r>
            <a:br>
              <a:rPr lang="en-US" dirty="0">
                <a:solidFill>
                  <a:schemeClr val="tx2">
                    <a:lumMod val="85000"/>
                    <a:lumOff val="15000"/>
                  </a:schemeClr>
                </a:solidFill>
              </a:rPr>
            </a:br>
            <a:r>
              <a:rPr lang="en-US" dirty="0">
                <a:solidFill>
                  <a:schemeClr val="tx2">
                    <a:lumMod val="85000"/>
                    <a:lumOff val="15000"/>
                  </a:schemeClr>
                </a:solidFill>
              </a:rPr>
              <a:t>Shows previous questions and answers for reference.</a:t>
            </a:r>
          </a:p>
          <a:p>
            <a:endParaRPr lang="en-IN" dirty="0"/>
          </a:p>
        </p:txBody>
      </p:sp>
      <p:pic>
        <p:nvPicPr>
          <p:cNvPr id="9" name="Picture 8" descr="A screenshot of a computer screen&#10;&#10;AI-generated content may be incorrect.">
            <a:extLst>
              <a:ext uri="{FF2B5EF4-FFF2-40B4-BE49-F238E27FC236}">
                <a16:creationId xmlns:a16="http://schemas.microsoft.com/office/drawing/2014/main" id="{A0F23811-5AE0-D0B4-B309-F716DE652B59}"/>
              </a:ext>
            </a:extLst>
          </p:cNvPr>
          <p:cNvPicPr>
            <a:picLocks noChangeAspect="1"/>
          </p:cNvPicPr>
          <p:nvPr/>
        </p:nvPicPr>
        <p:blipFill>
          <a:blip r:embed="rId2"/>
          <a:stretch>
            <a:fillRect/>
          </a:stretch>
        </p:blipFill>
        <p:spPr>
          <a:xfrm>
            <a:off x="7613373" y="0"/>
            <a:ext cx="4578627" cy="6858000"/>
          </a:xfrm>
          <a:prstGeom prst="rect">
            <a:avLst/>
          </a:prstGeom>
        </p:spPr>
      </p:pic>
      <p:cxnSp>
        <p:nvCxnSpPr>
          <p:cNvPr id="11" name="Straight Connector 10">
            <a:extLst>
              <a:ext uri="{FF2B5EF4-FFF2-40B4-BE49-F238E27FC236}">
                <a16:creationId xmlns:a16="http://schemas.microsoft.com/office/drawing/2014/main" id="{314DAF8C-62BE-0F9E-27DA-7EB4DBCD2F1B}"/>
              </a:ext>
            </a:extLst>
          </p:cNvPr>
          <p:cNvCxnSpPr>
            <a:cxnSpLocks/>
          </p:cNvCxnSpPr>
          <p:nvPr/>
        </p:nvCxnSpPr>
        <p:spPr>
          <a:xfrm>
            <a:off x="8906254" y="0"/>
            <a:ext cx="625372" cy="132190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7588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2" presetClass="emph" presetSubtype="0" fill="hold" nodeType="clickEffect">
                                  <p:stCondLst>
                                    <p:cond delay="0"/>
                                  </p:stCondLst>
                                  <p:childTnLst>
                                    <p:animRot by="120000">
                                      <p:cBhvr>
                                        <p:cTn id="11" dur="100" fill="hold">
                                          <p:stCondLst>
                                            <p:cond delay="0"/>
                                          </p:stCondLst>
                                        </p:cTn>
                                        <p:tgtEl>
                                          <p:spTgt spid="6">
                                            <p:txEl>
                                              <p:pRg st="0" end="0"/>
                                            </p:txEl>
                                          </p:spTgt>
                                        </p:tgtEl>
                                        <p:attrNameLst>
                                          <p:attrName>r</p:attrName>
                                        </p:attrNameLst>
                                      </p:cBhvr>
                                    </p:animRot>
                                    <p:animRot by="-240000">
                                      <p:cBhvr>
                                        <p:cTn id="12" dur="200" fill="hold">
                                          <p:stCondLst>
                                            <p:cond delay="200"/>
                                          </p:stCondLst>
                                        </p:cTn>
                                        <p:tgtEl>
                                          <p:spTgt spid="6">
                                            <p:txEl>
                                              <p:pRg st="0" end="0"/>
                                            </p:txEl>
                                          </p:spTgt>
                                        </p:tgtEl>
                                        <p:attrNameLst>
                                          <p:attrName>r</p:attrName>
                                        </p:attrNameLst>
                                      </p:cBhvr>
                                    </p:animRot>
                                    <p:animRot by="240000">
                                      <p:cBhvr>
                                        <p:cTn id="13" dur="200" fill="hold">
                                          <p:stCondLst>
                                            <p:cond delay="400"/>
                                          </p:stCondLst>
                                        </p:cTn>
                                        <p:tgtEl>
                                          <p:spTgt spid="6">
                                            <p:txEl>
                                              <p:pRg st="0" end="0"/>
                                            </p:txEl>
                                          </p:spTgt>
                                        </p:tgtEl>
                                        <p:attrNameLst>
                                          <p:attrName>r</p:attrName>
                                        </p:attrNameLst>
                                      </p:cBhvr>
                                    </p:animRot>
                                    <p:animRot by="-240000">
                                      <p:cBhvr>
                                        <p:cTn id="14" dur="200" fill="hold">
                                          <p:stCondLst>
                                            <p:cond delay="600"/>
                                          </p:stCondLst>
                                        </p:cTn>
                                        <p:tgtEl>
                                          <p:spTgt spid="6">
                                            <p:txEl>
                                              <p:pRg st="0" end="0"/>
                                            </p:txEl>
                                          </p:spTgt>
                                        </p:tgtEl>
                                        <p:attrNameLst>
                                          <p:attrName>r</p:attrName>
                                        </p:attrNameLst>
                                      </p:cBhvr>
                                    </p:animRot>
                                    <p:animRot by="120000">
                                      <p:cBhvr>
                                        <p:cTn id="15" dur="200" fill="hold">
                                          <p:stCondLst>
                                            <p:cond delay="800"/>
                                          </p:stCondLst>
                                        </p:cTn>
                                        <p:tgtEl>
                                          <p:spTgt spid="6">
                                            <p:txEl>
                                              <p:pRg st="0" end="0"/>
                                            </p:txEl>
                                          </p:spTgt>
                                        </p:tgtEl>
                                        <p:attrNameLst>
                                          <p:attrName>r</p:attrName>
                                        </p:attrNameLst>
                                      </p:cBhvr>
                                    </p:animRot>
                                  </p:childTnLst>
                                </p:cTn>
                              </p:par>
                              <p:par>
                                <p:cTn id="16" presetID="32" presetClass="emph" presetSubtype="0" fill="hold" nodeType="withEffect">
                                  <p:stCondLst>
                                    <p:cond delay="0"/>
                                  </p:stCondLst>
                                  <p:childTnLst>
                                    <p:animRot by="120000">
                                      <p:cBhvr>
                                        <p:cTn id="17" dur="100" fill="hold">
                                          <p:stCondLst>
                                            <p:cond delay="0"/>
                                          </p:stCondLst>
                                        </p:cTn>
                                        <p:tgtEl>
                                          <p:spTgt spid="6">
                                            <p:txEl>
                                              <p:pRg st="1" end="1"/>
                                            </p:txEl>
                                          </p:spTgt>
                                        </p:tgtEl>
                                        <p:attrNameLst>
                                          <p:attrName>r</p:attrName>
                                        </p:attrNameLst>
                                      </p:cBhvr>
                                    </p:animRot>
                                    <p:animRot by="-240000">
                                      <p:cBhvr>
                                        <p:cTn id="18" dur="200" fill="hold">
                                          <p:stCondLst>
                                            <p:cond delay="200"/>
                                          </p:stCondLst>
                                        </p:cTn>
                                        <p:tgtEl>
                                          <p:spTgt spid="6">
                                            <p:txEl>
                                              <p:pRg st="1" end="1"/>
                                            </p:txEl>
                                          </p:spTgt>
                                        </p:tgtEl>
                                        <p:attrNameLst>
                                          <p:attrName>r</p:attrName>
                                        </p:attrNameLst>
                                      </p:cBhvr>
                                    </p:animRot>
                                    <p:animRot by="240000">
                                      <p:cBhvr>
                                        <p:cTn id="19" dur="200" fill="hold">
                                          <p:stCondLst>
                                            <p:cond delay="400"/>
                                          </p:stCondLst>
                                        </p:cTn>
                                        <p:tgtEl>
                                          <p:spTgt spid="6">
                                            <p:txEl>
                                              <p:pRg st="1" end="1"/>
                                            </p:txEl>
                                          </p:spTgt>
                                        </p:tgtEl>
                                        <p:attrNameLst>
                                          <p:attrName>r</p:attrName>
                                        </p:attrNameLst>
                                      </p:cBhvr>
                                    </p:animRot>
                                    <p:animRot by="-240000">
                                      <p:cBhvr>
                                        <p:cTn id="20" dur="200" fill="hold">
                                          <p:stCondLst>
                                            <p:cond delay="600"/>
                                          </p:stCondLst>
                                        </p:cTn>
                                        <p:tgtEl>
                                          <p:spTgt spid="6">
                                            <p:txEl>
                                              <p:pRg st="1" end="1"/>
                                            </p:txEl>
                                          </p:spTgt>
                                        </p:tgtEl>
                                        <p:attrNameLst>
                                          <p:attrName>r</p:attrName>
                                        </p:attrNameLst>
                                      </p:cBhvr>
                                    </p:animRot>
                                    <p:animRot by="120000">
                                      <p:cBhvr>
                                        <p:cTn id="21" dur="200" fill="hold">
                                          <p:stCondLst>
                                            <p:cond delay="800"/>
                                          </p:stCondLst>
                                        </p:cTn>
                                        <p:tgtEl>
                                          <p:spTgt spid="6">
                                            <p:txEl>
                                              <p:pRg st="1" end="1"/>
                                            </p:txEl>
                                          </p:spTgt>
                                        </p:tgtEl>
                                        <p:attrNameLst>
                                          <p:attrName>r</p:attrName>
                                        </p:attrNameLst>
                                      </p:cBhvr>
                                    </p:animRot>
                                  </p:childTnLst>
                                </p:cTn>
                              </p:par>
                              <p:par>
                                <p:cTn id="22" presetID="32" presetClass="emph" presetSubtype="0" fill="hold" nodeType="withEffect">
                                  <p:stCondLst>
                                    <p:cond delay="0"/>
                                  </p:stCondLst>
                                  <p:childTnLst>
                                    <p:animRot by="120000">
                                      <p:cBhvr>
                                        <p:cTn id="23" dur="100" fill="hold">
                                          <p:stCondLst>
                                            <p:cond delay="0"/>
                                          </p:stCondLst>
                                        </p:cTn>
                                        <p:tgtEl>
                                          <p:spTgt spid="6">
                                            <p:txEl>
                                              <p:pRg st="2" end="2"/>
                                            </p:txEl>
                                          </p:spTgt>
                                        </p:tgtEl>
                                        <p:attrNameLst>
                                          <p:attrName>r</p:attrName>
                                        </p:attrNameLst>
                                      </p:cBhvr>
                                    </p:animRot>
                                    <p:animRot by="-240000">
                                      <p:cBhvr>
                                        <p:cTn id="24" dur="200" fill="hold">
                                          <p:stCondLst>
                                            <p:cond delay="200"/>
                                          </p:stCondLst>
                                        </p:cTn>
                                        <p:tgtEl>
                                          <p:spTgt spid="6">
                                            <p:txEl>
                                              <p:pRg st="2" end="2"/>
                                            </p:txEl>
                                          </p:spTgt>
                                        </p:tgtEl>
                                        <p:attrNameLst>
                                          <p:attrName>r</p:attrName>
                                        </p:attrNameLst>
                                      </p:cBhvr>
                                    </p:animRot>
                                    <p:animRot by="240000">
                                      <p:cBhvr>
                                        <p:cTn id="25" dur="200" fill="hold">
                                          <p:stCondLst>
                                            <p:cond delay="400"/>
                                          </p:stCondLst>
                                        </p:cTn>
                                        <p:tgtEl>
                                          <p:spTgt spid="6">
                                            <p:txEl>
                                              <p:pRg st="2" end="2"/>
                                            </p:txEl>
                                          </p:spTgt>
                                        </p:tgtEl>
                                        <p:attrNameLst>
                                          <p:attrName>r</p:attrName>
                                        </p:attrNameLst>
                                      </p:cBhvr>
                                    </p:animRot>
                                    <p:animRot by="-240000">
                                      <p:cBhvr>
                                        <p:cTn id="26" dur="200" fill="hold">
                                          <p:stCondLst>
                                            <p:cond delay="600"/>
                                          </p:stCondLst>
                                        </p:cTn>
                                        <p:tgtEl>
                                          <p:spTgt spid="6">
                                            <p:txEl>
                                              <p:pRg st="2" end="2"/>
                                            </p:txEl>
                                          </p:spTgt>
                                        </p:tgtEl>
                                        <p:attrNameLst>
                                          <p:attrName>r</p:attrName>
                                        </p:attrNameLst>
                                      </p:cBhvr>
                                    </p:animRot>
                                    <p:animRot by="120000">
                                      <p:cBhvr>
                                        <p:cTn id="27" dur="200" fill="hold">
                                          <p:stCondLst>
                                            <p:cond delay="800"/>
                                          </p:stCondLst>
                                        </p:cTn>
                                        <p:tgtEl>
                                          <p:spTgt spid="6">
                                            <p:txEl>
                                              <p:pRg st="2" end="2"/>
                                            </p:txEl>
                                          </p:spTgt>
                                        </p:tgtEl>
                                        <p:attrNameLst>
                                          <p:attrName>r</p:attrName>
                                        </p:attrNameLst>
                                      </p:cBhvr>
                                    </p:animRot>
                                  </p:childTnLst>
                                </p:cTn>
                              </p:par>
                            </p:childTnLst>
                          </p:cTn>
                        </p:par>
                      </p:childTnLst>
                    </p:cTn>
                  </p:par>
                  <p:par>
                    <p:cTn id="28" fill="hold">
                      <p:stCondLst>
                        <p:cond delay="indefinite"/>
                      </p:stCondLst>
                      <p:childTnLst>
                        <p:par>
                          <p:cTn id="29" fill="hold">
                            <p:stCondLst>
                              <p:cond delay="0"/>
                            </p:stCondLst>
                            <p:childTnLst>
                              <p:par>
                                <p:cTn id="30" presetID="32" presetClass="emph" presetSubtype="0" fill="hold" nodeType="clickEffect">
                                  <p:stCondLst>
                                    <p:cond delay="0"/>
                                  </p:stCondLst>
                                  <p:childTnLst>
                                    <p:animRot by="120000">
                                      <p:cBhvr>
                                        <p:cTn id="31" dur="100" fill="hold">
                                          <p:stCondLst>
                                            <p:cond delay="0"/>
                                          </p:stCondLst>
                                        </p:cTn>
                                        <p:tgtEl>
                                          <p:spTgt spid="7">
                                            <p:txEl>
                                              <p:pRg st="0" end="0"/>
                                            </p:txEl>
                                          </p:spTgt>
                                        </p:tgtEl>
                                        <p:attrNameLst>
                                          <p:attrName>r</p:attrName>
                                        </p:attrNameLst>
                                      </p:cBhvr>
                                    </p:animRot>
                                    <p:animRot by="-240000">
                                      <p:cBhvr>
                                        <p:cTn id="32" dur="200" fill="hold">
                                          <p:stCondLst>
                                            <p:cond delay="200"/>
                                          </p:stCondLst>
                                        </p:cTn>
                                        <p:tgtEl>
                                          <p:spTgt spid="7">
                                            <p:txEl>
                                              <p:pRg st="0" end="0"/>
                                            </p:txEl>
                                          </p:spTgt>
                                        </p:tgtEl>
                                        <p:attrNameLst>
                                          <p:attrName>r</p:attrName>
                                        </p:attrNameLst>
                                      </p:cBhvr>
                                    </p:animRot>
                                    <p:animRot by="240000">
                                      <p:cBhvr>
                                        <p:cTn id="33" dur="200" fill="hold">
                                          <p:stCondLst>
                                            <p:cond delay="400"/>
                                          </p:stCondLst>
                                        </p:cTn>
                                        <p:tgtEl>
                                          <p:spTgt spid="7">
                                            <p:txEl>
                                              <p:pRg st="0" end="0"/>
                                            </p:txEl>
                                          </p:spTgt>
                                        </p:tgtEl>
                                        <p:attrNameLst>
                                          <p:attrName>r</p:attrName>
                                        </p:attrNameLst>
                                      </p:cBhvr>
                                    </p:animRot>
                                    <p:animRot by="-240000">
                                      <p:cBhvr>
                                        <p:cTn id="34" dur="200" fill="hold">
                                          <p:stCondLst>
                                            <p:cond delay="600"/>
                                          </p:stCondLst>
                                        </p:cTn>
                                        <p:tgtEl>
                                          <p:spTgt spid="7">
                                            <p:txEl>
                                              <p:pRg st="0" end="0"/>
                                            </p:txEl>
                                          </p:spTgt>
                                        </p:tgtEl>
                                        <p:attrNameLst>
                                          <p:attrName>r</p:attrName>
                                        </p:attrNameLst>
                                      </p:cBhvr>
                                    </p:animRot>
                                    <p:animRot by="120000">
                                      <p:cBhvr>
                                        <p:cTn id="35" dur="200" fill="hold">
                                          <p:stCondLst>
                                            <p:cond delay="800"/>
                                          </p:stCondLst>
                                        </p:cTn>
                                        <p:tgtEl>
                                          <p:spTgt spid="7">
                                            <p:txEl>
                                              <p:pRg st="0" end="0"/>
                                            </p:txEl>
                                          </p:spTgt>
                                        </p:tgtEl>
                                        <p:attrNameLst>
                                          <p:attrName>r</p:attrName>
                                        </p:attrNameLst>
                                      </p:cBhvr>
                                    </p:animRot>
                                  </p:childTnLst>
                                </p:cTn>
                              </p:par>
                              <p:par>
                                <p:cTn id="36" presetID="32" presetClass="emph" presetSubtype="0" fill="hold" nodeType="withEffect">
                                  <p:stCondLst>
                                    <p:cond delay="0"/>
                                  </p:stCondLst>
                                  <p:childTnLst>
                                    <p:animRot by="120000">
                                      <p:cBhvr>
                                        <p:cTn id="37" dur="100" fill="hold">
                                          <p:stCondLst>
                                            <p:cond delay="0"/>
                                          </p:stCondLst>
                                        </p:cTn>
                                        <p:tgtEl>
                                          <p:spTgt spid="7">
                                            <p:txEl>
                                              <p:pRg st="1" end="1"/>
                                            </p:txEl>
                                          </p:spTgt>
                                        </p:tgtEl>
                                        <p:attrNameLst>
                                          <p:attrName>r</p:attrName>
                                        </p:attrNameLst>
                                      </p:cBhvr>
                                    </p:animRot>
                                    <p:animRot by="-240000">
                                      <p:cBhvr>
                                        <p:cTn id="38" dur="200" fill="hold">
                                          <p:stCondLst>
                                            <p:cond delay="200"/>
                                          </p:stCondLst>
                                        </p:cTn>
                                        <p:tgtEl>
                                          <p:spTgt spid="7">
                                            <p:txEl>
                                              <p:pRg st="1" end="1"/>
                                            </p:txEl>
                                          </p:spTgt>
                                        </p:tgtEl>
                                        <p:attrNameLst>
                                          <p:attrName>r</p:attrName>
                                        </p:attrNameLst>
                                      </p:cBhvr>
                                    </p:animRot>
                                    <p:animRot by="240000">
                                      <p:cBhvr>
                                        <p:cTn id="39" dur="200" fill="hold">
                                          <p:stCondLst>
                                            <p:cond delay="400"/>
                                          </p:stCondLst>
                                        </p:cTn>
                                        <p:tgtEl>
                                          <p:spTgt spid="7">
                                            <p:txEl>
                                              <p:pRg st="1" end="1"/>
                                            </p:txEl>
                                          </p:spTgt>
                                        </p:tgtEl>
                                        <p:attrNameLst>
                                          <p:attrName>r</p:attrName>
                                        </p:attrNameLst>
                                      </p:cBhvr>
                                    </p:animRot>
                                    <p:animRot by="-240000">
                                      <p:cBhvr>
                                        <p:cTn id="40" dur="200" fill="hold">
                                          <p:stCondLst>
                                            <p:cond delay="600"/>
                                          </p:stCondLst>
                                        </p:cTn>
                                        <p:tgtEl>
                                          <p:spTgt spid="7">
                                            <p:txEl>
                                              <p:pRg st="1" end="1"/>
                                            </p:txEl>
                                          </p:spTgt>
                                        </p:tgtEl>
                                        <p:attrNameLst>
                                          <p:attrName>r</p:attrName>
                                        </p:attrNameLst>
                                      </p:cBhvr>
                                    </p:animRot>
                                    <p:animRot by="120000">
                                      <p:cBhvr>
                                        <p:cTn id="41" dur="200" fill="hold">
                                          <p:stCondLst>
                                            <p:cond delay="800"/>
                                          </p:stCondLst>
                                        </p:cTn>
                                        <p:tgtEl>
                                          <p:spTgt spid="7">
                                            <p:txEl>
                                              <p:pRg st="1" end="1"/>
                                            </p:txEl>
                                          </p:spTgt>
                                        </p:tgtEl>
                                        <p:attrNameLst>
                                          <p:attrName>r</p:attrName>
                                        </p:attrNameLst>
                                      </p:cBhvr>
                                    </p:animRot>
                                  </p:childTnLst>
                                </p:cTn>
                              </p:par>
                              <p:par>
                                <p:cTn id="42" presetID="32" presetClass="emph" presetSubtype="0" fill="hold" nodeType="withEffect">
                                  <p:stCondLst>
                                    <p:cond delay="0"/>
                                  </p:stCondLst>
                                  <p:childTnLst>
                                    <p:animRot by="120000">
                                      <p:cBhvr>
                                        <p:cTn id="43" dur="100" fill="hold">
                                          <p:stCondLst>
                                            <p:cond delay="0"/>
                                          </p:stCondLst>
                                        </p:cTn>
                                        <p:tgtEl>
                                          <p:spTgt spid="7">
                                            <p:txEl>
                                              <p:pRg st="2" end="2"/>
                                            </p:txEl>
                                          </p:spTgt>
                                        </p:tgtEl>
                                        <p:attrNameLst>
                                          <p:attrName>r</p:attrName>
                                        </p:attrNameLst>
                                      </p:cBhvr>
                                    </p:animRot>
                                    <p:animRot by="-240000">
                                      <p:cBhvr>
                                        <p:cTn id="44" dur="200" fill="hold">
                                          <p:stCondLst>
                                            <p:cond delay="200"/>
                                          </p:stCondLst>
                                        </p:cTn>
                                        <p:tgtEl>
                                          <p:spTgt spid="7">
                                            <p:txEl>
                                              <p:pRg st="2" end="2"/>
                                            </p:txEl>
                                          </p:spTgt>
                                        </p:tgtEl>
                                        <p:attrNameLst>
                                          <p:attrName>r</p:attrName>
                                        </p:attrNameLst>
                                      </p:cBhvr>
                                    </p:animRot>
                                    <p:animRot by="240000">
                                      <p:cBhvr>
                                        <p:cTn id="45" dur="200" fill="hold">
                                          <p:stCondLst>
                                            <p:cond delay="400"/>
                                          </p:stCondLst>
                                        </p:cTn>
                                        <p:tgtEl>
                                          <p:spTgt spid="7">
                                            <p:txEl>
                                              <p:pRg st="2" end="2"/>
                                            </p:txEl>
                                          </p:spTgt>
                                        </p:tgtEl>
                                        <p:attrNameLst>
                                          <p:attrName>r</p:attrName>
                                        </p:attrNameLst>
                                      </p:cBhvr>
                                    </p:animRot>
                                    <p:animRot by="-240000">
                                      <p:cBhvr>
                                        <p:cTn id="46" dur="200" fill="hold">
                                          <p:stCondLst>
                                            <p:cond delay="600"/>
                                          </p:stCondLst>
                                        </p:cTn>
                                        <p:tgtEl>
                                          <p:spTgt spid="7">
                                            <p:txEl>
                                              <p:pRg st="2" end="2"/>
                                            </p:txEl>
                                          </p:spTgt>
                                        </p:tgtEl>
                                        <p:attrNameLst>
                                          <p:attrName>r</p:attrName>
                                        </p:attrNameLst>
                                      </p:cBhvr>
                                    </p:animRot>
                                    <p:animRot by="120000">
                                      <p:cBhvr>
                                        <p:cTn id="47" dur="200" fill="hold">
                                          <p:stCondLst>
                                            <p:cond delay="800"/>
                                          </p:stCondLst>
                                        </p:cTn>
                                        <p:tgtEl>
                                          <p:spTgt spid="7">
                                            <p:txEl>
                                              <p:pRg st="2" end="2"/>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D8C54-BC88-B2ED-7E4F-1ACEDB1A89AC}"/>
              </a:ext>
            </a:extLst>
          </p:cNvPr>
          <p:cNvSpPr>
            <a:spLocks noGrp="1"/>
          </p:cNvSpPr>
          <p:nvPr>
            <p:ph type="title"/>
          </p:nvPr>
        </p:nvSpPr>
        <p:spPr>
          <a:xfrm>
            <a:off x="3328443" y="518930"/>
            <a:ext cx="3228743" cy="752061"/>
          </a:xfrm>
          <a:effectLst>
            <a:outerShdw blurRad="50800" dist="38100" dir="2700000" algn="tl" rotWithShape="0">
              <a:prstClr val="black">
                <a:alpha val="40000"/>
              </a:prstClr>
            </a:outerShdw>
          </a:effectLst>
        </p:spPr>
        <p:txBody>
          <a:bodyPr>
            <a:noAutofit/>
          </a:bodyPr>
          <a:lstStyle/>
          <a:p>
            <a:r>
              <a:rPr lang="en-US" sz="4000" b="1" dirty="0">
                <a:solidFill>
                  <a:schemeClr val="tx2">
                    <a:lumMod val="85000"/>
                    <a:lumOff val="15000"/>
                  </a:schemeClr>
                </a:solidFill>
                <a:latin typeface="Bodoni MT" panose="02070603080606020203" pitchFamily="18" charset="0"/>
              </a:rPr>
              <a:t>CONCLUSION</a:t>
            </a:r>
            <a:endParaRPr lang="en-IN" sz="4000" b="1" dirty="0">
              <a:solidFill>
                <a:schemeClr val="tx2">
                  <a:lumMod val="85000"/>
                  <a:lumOff val="15000"/>
                </a:schemeClr>
              </a:solidFill>
              <a:latin typeface="Bodoni MT" panose="02070603080606020203" pitchFamily="18" charset="0"/>
            </a:endParaRPr>
          </a:p>
        </p:txBody>
      </p:sp>
      <p:sp>
        <p:nvSpPr>
          <p:cNvPr id="4" name="Rectangle 1">
            <a:extLst>
              <a:ext uri="{FF2B5EF4-FFF2-40B4-BE49-F238E27FC236}">
                <a16:creationId xmlns:a16="http://schemas.microsoft.com/office/drawing/2014/main" id="{3506158F-E6EC-40A7-A75B-2DD6BE952CA8}"/>
              </a:ext>
            </a:extLst>
          </p:cNvPr>
          <p:cNvSpPr>
            <a:spLocks noChangeArrowheads="1"/>
          </p:cNvSpPr>
          <p:nvPr/>
        </p:nvSpPr>
        <p:spPr bwMode="auto">
          <a:xfrm>
            <a:off x="1758688" y="1393959"/>
            <a:ext cx="6787323"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Badoni MT"/>
            </a:endParaRPr>
          </a:p>
          <a:p>
            <a:pPr lvl="0" algn="just" defTabSz="914400"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Badoni MT"/>
              </a:rPr>
              <a:t>   The Chemistry Bot is an AI-based system developed to answer chemistry and</a:t>
            </a:r>
            <a:r>
              <a:rPr lang="en-IN" sz="2000" dirty="0">
                <a:latin typeface="Badoni MT"/>
              </a:rPr>
              <a:t> scientific questions accurately.</a:t>
            </a:r>
            <a:r>
              <a:rPr kumimoji="0" lang="en-US" altLang="en-US" sz="2000" b="0" i="0" u="none" strike="noStrike" cap="none" normalizeH="0" baseline="0" dirty="0">
                <a:ln>
                  <a:noFill/>
                </a:ln>
                <a:solidFill>
                  <a:schemeClr val="tx1"/>
                </a:solidFill>
                <a:effectLst/>
                <a:latin typeface="Badoni MT"/>
              </a:rPr>
              <a:t>  </a:t>
            </a:r>
          </a:p>
          <a:p>
            <a:pPr marL="0" marR="0" lvl="0" indent="0" algn="just" defTabSz="914400" rtl="0" eaLnBrk="0" fontAlgn="base" latinLnBrk="0" hangingPunct="0">
              <a:lnSpc>
                <a:spcPct val="100000"/>
              </a:lnSpc>
              <a:spcBef>
                <a:spcPct val="0"/>
              </a:spcBef>
              <a:spcAft>
                <a:spcPct val="0"/>
              </a:spcAft>
              <a:buClrTx/>
              <a:buSzTx/>
              <a:buFontTx/>
              <a:buChar char="•"/>
              <a:tabLst/>
            </a:pPr>
            <a:r>
              <a:rPr lang="en-US" sz="2000" dirty="0">
                <a:latin typeface="Badoni MT"/>
              </a:rPr>
              <a:t>   It uses Natural Language Processing to understand user queries and provide meaningful, context-based responses.</a:t>
            </a:r>
          </a:p>
          <a:p>
            <a:pPr marL="285750" lvl="0" indent="-285750" algn="just" defTabSz="914400" eaLnBrk="0" fontAlgn="base" hangingPunct="0">
              <a:spcBef>
                <a:spcPct val="0"/>
              </a:spcBef>
              <a:spcAft>
                <a:spcPct val="0"/>
              </a:spcAft>
              <a:buFont typeface="Arial" panose="020B0604020202020204" pitchFamily="34" charset="0"/>
              <a:buChar char="•"/>
            </a:pPr>
            <a:r>
              <a:rPr lang="en-US" sz="2000" dirty="0">
                <a:latin typeface="Badoni MT"/>
              </a:rPr>
              <a:t>The system offers a user-friendly chat interface that makes learning chemistry easy and interactive.</a:t>
            </a:r>
          </a:p>
          <a:p>
            <a:pPr marL="285750" lvl="0" indent="-285750" algn="just" defTabSz="914400" eaLnBrk="0" fontAlgn="base" hangingPunct="0">
              <a:spcBef>
                <a:spcPct val="0"/>
              </a:spcBef>
              <a:spcAft>
                <a:spcPct val="0"/>
              </a:spcAft>
              <a:buFont typeface="Arial" panose="020B0604020202020204" pitchFamily="34" charset="0"/>
              <a:buChar char="•"/>
            </a:pPr>
            <a:r>
              <a:rPr lang="en-US" sz="2000" dirty="0">
                <a:latin typeface="Badoni MT"/>
              </a:rPr>
              <a:t>This project helps students save time, clear doubts instantly, and improve understanding of complex chemistry concepts.</a:t>
            </a:r>
          </a:p>
          <a:p>
            <a:pPr marL="285750" lvl="0" indent="-285750" algn="just" defTabSz="914400" eaLnBrk="0" fontAlgn="base" hangingPunct="0">
              <a:spcBef>
                <a:spcPct val="0"/>
              </a:spcBef>
              <a:spcAft>
                <a:spcPct val="0"/>
              </a:spcAft>
              <a:buFont typeface="Arial" panose="020B0604020202020204" pitchFamily="34" charset="0"/>
              <a:buChar char="•"/>
            </a:pPr>
            <a:r>
              <a:rPr lang="en-US" sz="2000" dirty="0">
                <a:latin typeface="Badoni MT"/>
              </a:rPr>
              <a:t>Overall, the Chemistry Bot proves to be an effective learning support tool in the field of chemical education.</a:t>
            </a:r>
          </a:p>
        </p:txBody>
      </p:sp>
    </p:spTree>
    <p:extLst>
      <p:ext uri="{BB962C8B-B14F-4D97-AF65-F5344CB8AC3E}">
        <p14:creationId xmlns:p14="http://schemas.microsoft.com/office/powerpoint/2010/main" val="1296596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down)">
                                      <p:cBhvr>
                                        <p:cTn id="15" dur="500"/>
                                        <p:tgtEl>
                                          <p:spTgt spid="4">
                                            <p:txEl>
                                              <p:pRg st="2" end="2"/>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wipe(down)">
                                      <p:cBhvr>
                                        <p:cTn id="18" dur="500"/>
                                        <p:tgtEl>
                                          <p:spTgt spid="4">
                                            <p:txEl>
                                              <p:pRg st="3" end="3"/>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wipe(down)">
                                      <p:cBhvr>
                                        <p:cTn id="21" dur="500"/>
                                        <p:tgtEl>
                                          <p:spTgt spid="4">
                                            <p:txEl>
                                              <p:pRg st="4" end="4"/>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wipe(down)">
                                      <p:cBhvr>
                                        <p:cTn id="24"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163ED-9C5C-EC67-2063-FF85A57EED88}"/>
              </a:ext>
            </a:extLst>
          </p:cNvPr>
          <p:cNvSpPr>
            <a:spLocks noGrp="1"/>
          </p:cNvSpPr>
          <p:nvPr>
            <p:ph type="title"/>
          </p:nvPr>
        </p:nvSpPr>
        <p:spPr>
          <a:xfrm>
            <a:off x="3073675" y="520148"/>
            <a:ext cx="4248979" cy="642730"/>
          </a:xfrm>
          <a:effectLst>
            <a:outerShdw blurRad="50800" dist="38100" dir="2700000" algn="tl" rotWithShape="0">
              <a:prstClr val="black">
                <a:alpha val="40000"/>
              </a:prstClr>
            </a:outerShdw>
          </a:effectLst>
        </p:spPr>
        <p:txBody>
          <a:bodyPr>
            <a:noAutofit/>
          </a:bodyPr>
          <a:lstStyle/>
          <a:p>
            <a:r>
              <a:rPr lang="en-US" b="1" dirty="0">
                <a:solidFill>
                  <a:schemeClr val="tx2">
                    <a:lumMod val="85000"/>
                    <a:lumOff val="15000"/>
                  </a:schemeClr>
                </a:solidFill>
                <a:latin typeface="Goudy Old Style" panose="02020502050305020303" pitchFamily="18" charset="0"/>
              </a:rPr>
              <a:t>FUTURE SCOPE</a:t>
            </a:r>
            <a:endParaRPr lang="en-IN" b="1" dirty="0">
              <a:solidFill>
                <a:schemeClr val="tx2">
                  <a:lumMod val="85000"/>
                  <a:lumOff val="15000"/>
                </a:schemeClr>
              </a:solidFill>
              <a:latin typeface="Goudy Old Style" panose="02020502050305020303" pitchFamily="18" charset="0"/>
            </a:endParaRPr>
          </a:p>
        </p:txBody>
      </p:sp>
      <p:sp>
        <p:nvSpPr>
          <p:cNvPr id="3" name="TextBox 2">
            <a:extLst>
              <a:ext uri="{FF2B5EF4-FFF2-40B4-BE49-F238E27FC236}">
                <a16:creationId xmlns:a16="http://schemas.microsoft.com/office/drawing/2014/main" id="{1313A91C-BA02-0AAE-94ED-E8849306B877}"/>
              </a:ext>
            </a:extLst>
          </p:cNvPr>
          <p:cNvSpPr txBox="1"/>
          <p:nvPr/>
        </p:nvSpPr>
        <p:spPr>
          <a:xfrm>
            <a:off x="1172817" y="1560443"/>
            <a:ext cx="8050696"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tx1">
                    <a:lumMod val="75000"/>
                    <a:lumOff val="25000"/>
                  </a:schemeClr>
                </a:solidFill>
                <a:latin typeface="Badoni MT"/>
              </a:rPr>
              <a:t>Extend the bot to support </a:t>
            </a:r>
            <a:r>
              <a:rPr lang="en-US" sz="2400" b="1" dirty="0">
                <a:solidFill>
                  <a:schemeClr val="tx1">
                    <a:lumMod val="75000"/>
                    <a:lumOff val="25000"/>
                  </a:schemeClr>
                </a:solidFill>
                <a:latin typeface="Badoni MT"/>
              </a:rPr>
              <a:t>other science subjects</a:t>
            </a:r>
            <a:r>
              <a:rPr lang="en-US" sz="2400" dirty="0">
                <a:solidFill>
                  <a:schemeClr val="tx1">
                    <a:lumMod val="75000"/>
                    <a:lumOff val="25000"/>
                  </a:schemeClr>
                </a:solidFill>
                <a:latin typeface="Badoni MT"/>
              </a:rPr>
              <a:t> such as Physics and Biology.</a:t>
            </a:r>
          </a:p>
          <a:p>
            <a:pPr marL="285750" indent="-285750">
              <a:buFont typeface="Arial" panose="020B0604020202020204" pitchFamily="34" charset="0"/>
              <a:buChar char="•"/>
            </a:pPr>
            <a:r>
              <a:rPr lang="en-US" sz="2400" dirty="0">
                <a:solidFill>
                  <a:schemeClr val="tx1">
                    <a:lumMod val="75000"/>
                    <a:lumOff val="25000"/>
                  </a:schemeClr>
                </a:solidFill>
                <a:latin typeface="Badoni MT"/>
              </a:rPr>
              <a:t>Add </a:t>
            </a:r>
            <a:r>
              <a:rPr lang="en-US" sz="2400" b="1" dirty="0">
                <a:solidFill>
                  <a:schemeClr val="tx1">
                    <a:lumMod val="75000"/>
                    <a:lumOff val="25000"/>
                  </a:schemeClr>
                </a:solidFill>
                <a:latin typeface="Badoni MT"/>
              </a:rPr>
              <a:t>voice-based input and output</a:t>
            </a:r>
            <a:r>
              <a:rPr lang="en-US" sz="2400" dirty="0">
                <a:solidFill>
                  <a:schemeClr val="tx1">
                    <a:lumMod val="75000"/>
                    <a:lumOff val="25000"/>
                  </a:schemeClr>
                </a:solidFill>
                <a:latin typeface="Badoni MT"/>
              </a:rPr>
              <a:t> for better accessibility.</a:t>
            </a:r>
          </a:p>
          <a:p>
            <a:pPr marL="285750" indent="-285750">
              <a:buFont typeface="Arial" panose="020B0604020202020204" pitchFamily="34" charset="0"/>
              <a:buChar char="•"/>
            </a:pPr>
            <a:r>
              <a:rPr lang="en-US" sz="2400" dirty="0">
                <a:solidFill>
                  <a:schemeClr val="tx1">
                    <a:lumMod val="75000"/>
                    <a:lumOff val="25000"/>
                  </a:schemeClr>
                </a:solidFill>
                <a:latin typeface="Badoni MT"/>
              </a:rPr>
              <a:t>Develop a </a:t>
            </a:r>
            <a:r>
              <a:rPr lang="en-US" sz="2400" b="1" dirty="0">
                <a:solidFill>
                  <a:schemeClr val="tx1">
                    <a:lumMod val="75000"/>
                    <a:lumOff val="25000"/>
                  </a:schemeClr>
                </a:solidFill>
                <a:latin typeface="Badoni MT"/>
              </a:rPr>
              <a:t>mobile application</a:t>
            </a:r>
            <a:r>
              <a:rPr lang="en-US" sz="2400" dirty="0">
                <a:solidFill>
                  <a:schemeClr val="tx1">
                    <a:lumMod val="75000"/>
                    <a:lumOff val="25000"/>
                  </a:schemeClr>
                </a:solidFill>
                <a:latin typeface="Badoni MT"/>
              </a:rPr>
              <a:t> for wider usage.</a:t>
            </a:r>
          </a:p>
          <a:p>
            <a:pPr marL="285750" indent="-285750">
              <a:buFont typeface="Arial" panose="020B0604020202020204" pitchFamily="34" charset="0"/>
              <a:buChar char="•"/>
            </a:pPr>
            <a:r>
              <a:rPr lang="en-US" sz="2400" dirty="0">
                <a:solidFill>
                  <a:schemeClr val="tx1">
                    <a:lumMod val="75000"/>
                    <a:lumOff val="25000"/>
                  </a:schemeClr>
                </a:solidFill>
                <a:latin typeface="Badoni MT"/>
              </a:rPr>
              <a:t>Improve accuracy using </a:t>
            </a:r>
            <a:r>
              <a:rPr lang="en-US" sz="2400" b="1" dirty="0">
                <a:solidFill>
                  <a:schemeClr val="tx1">
                    <a:lumMod val="75000"/>
                    <a:lumOff val="25000"/>
                  </a:schemeClr>
                </a:solidFill>
                <a:latin typeface="Badoni MT"/>
              </a:rPr>
              <a:t>advanced AI models and larger datasets</a:t>
            </a:r>
            <a:r>
              <a:rPr lang="en-US" sz="2400" dirty="0">
                <a:solidFill>
                  <a:schemeClr val="tx1">
                    <a:lumMod val="75000"/>
                    <a:lumOff val="25000"/>
                  </a:schemeClr>
                </a:solidFill>
                <a:latin typeface="Badoni MT"/>
              </a:rPr>
              <a:t>.</a:t>
            </a:r>
          </a:p>
          <a:p>
            <a:pPr marL="285750" indent="-285750">
              <a:buFont typeface="Arial" panose="020B0604020202020204" pitchFamily="34" charset="0"/>
              <a:buChar char="•"/>
            </a:pPr>
            <a:r>
              <a:rPr lang="en-US" sz="2400" dirty="0">
                <a:solidFill>
                  <a:schemeClr val="tx1">
                    <a:lumMod val="75000"/>
                    <a:lumOff val="25000"/>
                  </a:schemeClr>
                </a:solidFill>
                <a:latin typeface="Badoni MT"/>
              </a:rPr>
              <a:t>Enable </a:t>
            </a:r>
            <a:r>
              <a:rPr lang="en-US" sz="2400" b="1" dirty="0">
                <a:solidFill>
                  <a:schemeClr val="tx1">
                    <a:lumMod val="75000"/>
                    <a:lumOff val="25000"/>
                  </a:schemeClr>
                </a:solidFill>
                <a:latin typeface="Badoni MT"/>
              </a:rPr>
              <a:t>multi-language support</a:t>
            </a:r>
            <a:r>
              <a:rPr lang="en-US" sz="2400" dirty="0">
                <a:solidFill>
                  <a:schemeClr val="tx1">
                    <a:lumMod val="75000"/>
                    <a:lumOff val="25000"/>
                  </a:schemeClr>
                </a:solidFill>
                <a:latin typeface="Badoni MT"/>
              </a:rPr>
              <a:t> to help users from different regions.</a:t>
            </a:r>
          </a:p>
        </p:txBody>
      </p:sp>
    </p:spTree>
    <p:extLst>
      <p:ext uri="{BB962C8B-B14F-4D97-AF65-F5344CB8AC3E}">
        <p14:creationId xmlns:p14="http://schemas.microsoft.com/office/powerpoint/2010/main" val="567499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2"/>
                                        </p:tgtEl>
                                      </p:cBhvr>
                                    </p:animEffect>
                                    <p:animScale>
                                      <p:cBhvr>
                                        <p:cTn id="7" dur="250" autoRev="1" fill="hold"/>
                                        <p:tgtEl>
                                          <p:spTgt spid="2"/>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80">
                                          <p:stCondLst>
                                            <p:cond delay="0"/>
                                          </p:stCondLst>
                                        </p:cTn>
                                        <p:tgtEl>
                                          <p:spTgt spid="3">
                                            <p:txEl>
                                              <p:pRg st="0" end="0"/>
                                            </p:txEl>
                                          </p:spTgt>
                                        </p:tgtEl>
                                      </p:cBhvr>
                                    </p:animEffect>
                                    <p:anim calcmode="lin" valueType="num">
                                      <p:cBhvr>
                                        <p:cTn id="13"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8" dur="26">
                                          <p:stCondLst>
                                            <p:cond delay="650"/>
                                          </p:stCondLst>
                                        </p:cTn>
                                        <p:tgtEl>
                                          <p:spTgt spid="3">
                                            <p:txEl>
                                              <p:pRg st="0" end="0"/>
                                            </p:txEl>
                                          </p:spTgt>
                                        </p:tgtEl>
                                      </p:cBhvr>
                                      <p:to x="100000" y="60000"/>
                                    </p:animScale>
                                    <p:animScale>
                                      <p:cBhvr>
                                        <p:cTn id="19" dur="166" decel="50000">
                                          <p:stCondLst>
                                            <p:cond delay="676"/>
                                          </p:stCondLst>
                                        </p:cTn>
                                        <p:tgtEl>
                                          <p:spTgt spid="3">
                                            <p:txEl>
                                              <p:pRg st="0" end="0"/>
                                            </p:txEl>
                                          </p:spTgt>
                                        </p:tgtEl>
                                      </p:cBhvr>
                                      <p:to x="100000" y="100000"/>
                                    </p:animScale>
                                    <p:animScale>
                                      <p:cBhvr>
                                        <p:cTn id="20" dur="26">
                                          <p:stCondLst>
                                            <p:cond delay="1312"/>
                                          </p:stCondLst>
                                        </p:cTn>
                                        <p:tgtEl>
                                          <p:spTgt spid="3">
                                            <p:txEl>
                                              <p:pRg st="0" end="0"/>
                                            </p:txEl>
                                          </p:spTgt>
                                        </p:tgtEl>
                                      </p:cBhvr>
                                      <p:to x="100000" y="80000"/>
                                    </p:animScale>
                                    <p:animScale>
                                      <p:cBhvr>
                                        <p:cTn id="21" dur="166" decel="50000">
                                          <p:stCondLst>
                                            <p:cond delay="1338"/>
                                          </p:stCondLst>
                                        </p:cTn>
                                        <p:tgtEl>
                                          <p:spTgt spid="3">
                                            <p:txEl>
                                              <p:pRg st="0" end="0"/>
                                            </p:txEl>
                                          </p:spTgt>
                                        </p:tgtEl>
                                      </p:cBhvr>
                                      <p:to x="100000" y="100000"/>
                                    </p:animScale>
                                    <p:animScale>
                                      <p:cBhvr>
                                        <p:cTn id="22" dur="26">
                                          <p:stCondLst>
                                            <p:cond delay="1642"/>
                                          </p:stCondLst>
                                        </p:cTn>
                                        <p:tgtEl>
                                          <p:spTgt spid="3">
                                            <p:txEl>
                                              <p:pRg st="0" end="0"/>
                                            </p:txEl>
                                          </p:spTgt>
                                        </p:tgtEl>
                                      </p:cBhvr>
                                      <p:to x="100000" y="90000"/>
                                    </p:animScale>
                                    <p:animScale>
                                      <p:cBhvr>
                                        <p:cTn id="23" dur="166" decel="50000">
                                          <p:stCondLst>
                                            <p:cond delay="1668"/>
                                          </p:stCondLst>
                                        </p:cTn>
                                        <p:tgtEl>
                                          <p:spTgt spid="3">
                                            <p:txEl>
                                              <p:pRg st="0" end="0"/>
                                            </p:txEl>
                                          </p:spTgt>
                                        </p:tgtEl>
                                      </p:cBhvr>
                                      <p:to x="100000" y="100000"/>
                                    </p:animScale>
                                    <p:animScale>
                                      <p:cBhvr>
                                        <p:cTn id="24" dur="26">
                                          <p:stCondLst>
                                            <p:cond delay="1808"/>
                                          </p:stCondLst>
                                        </p:cTn>
                                        <p:tgtEl>
                                          <p:spTgt spid="3">
                                            <p:txEl>
                                              <p:pRg st="0" end="0"/>
                                            </p:txEl>
                                          </p:spTgt>
                                        </p:tgtEl>
                                      </p:cBhvr>
                                      <p:to x="100000" y="95000"/>
                                    </p:animScale>
                                    <p:animScale>
                                      <p:cBhvr>
                                        <p:cTn id="25" dur="166" decel="50000">
                                          <p:stCondLst>
                                            <p:cond delay="1834"/>
                                          </p:stCondLst>
                                        </p:cTn>
                                        <p:tgtEl>
                                          <p:spTgt spid="3">
                                            <p:txEl>
                                              <p:pRg st="0" end="0"/>
                                            </p:txEl>
                                          </p:spTgt>
                                        </p:tgtEl>
                                      </p:cBhvr>
                                      <p:to x="100000" y="100000"/>
                                    </p:animScale>
                                  </p:childTnLst>
                                </p:cTn>
                              </p:par>
                              <p:par>
                                <p:cTn id="26" presetID="26" presetClass="entr" presetSubtype="0" fill="hold" nodeType="with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wipe(down)">
                                      <p:cBhvr>
                                        <p:cTn id="28" dur="580">
                                          <p:stCondLst>
                                            <p:cond delay="0"/>
                                          </p:stCondLst>
                                        </p:cTn>
                                        <p:tgtEl>
                                          <p:spTgt spid="3">
                                            <p:txEl>
                                              <p:pRg st="1" end="1"/>
                                            </p:txEl>
                                          </p:spTgt>
                                        </p:tgtEl>
                                      </p:cBhvr>
                                    </p:animEffect>
                                    <p:anim calcmode="lin" valueType="num">
                                      <p:cBhvr>
                                        <p:cTn id="29"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30"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31"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32"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3"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4" dur="26">
                                          <p:stCondLst>
                                            <p:cond delay="650"/>
                                          </p:stCondLst>
                                        </p:cTn>
                                        <p:tgtEl>
                                          <p:spTgt spid="3">
                                            <p:txEl>
                                              <p:pRg st="1" end="1"/>
                                            </p:txEl>
                                          </p:spTgt>
                                        </p:tgtEl>
                                      </p:cBhvr>
                                      <p:to x="100000" y="60000"/>
                                    </p:animScale>
                                    <p:animScale>
                                      <p:cBhvr>
                                        <p:cTn id="35" dur="166" decel="50000">
                                          <p:stCondLst>
                                            <p:cond delay="676"/>
                                          </p:stCondLst>
                                        </p:cTn>
                                        <p:tgtEl>
                                          <p:spTgt spid="3">
                                            <p:txEl>
                                              <p:pRg st="1" end="1"/>
                                            </p:txEl>
                                          </p:spTgt>
                                        </p:tgtEl>
                                      </p:cBhvr>
                                      <p:to x="100000" y="100000"/>
                                    </p:animScale>
                                    <p:animScale>
                                      <p:cBhvr>
                                        <p:cTn id="36" dur="26">
                                          <p:stCondLst>
                                            <p:cond delay="1312"/>
                                          </p:stCondLst>
                                        </p:cTn>
                                        <p:tgtEl>
                                          <p:spTgt spid="3">
                                            <p:txEl>
                                              <p:pRg st="1" end="1"/>
                                            </p:txEl>
                                          </p:spTgt>
                                        </p:tgtEl>
                                      </p:cBhvr>
                                      <p:to x="100000" y="80000"/>
                                    </p:animScale>
                                    <p:animScale>
                                      <p:cBhvr>
                                        <p:cTn id="37" dur="166" decel="50000">
                                          <p:stCondLst>
                                            <p:cond delay="1338"/>
                                          </p:stCondLst>
                                        </p:cTn>
                                        <p:tgtEl>
                                          <p:spTgt spid="3">
                                            <p:txEl>
                                              <p:pRg st="1" end="1"/>
                                            </p:txEl>
                                          </p:spTgt>
                                        </p:tgtEl>
                                      </p:cBhvr>
                                      <p:to x="100000" y="100000"/>
                                    </p:animScale>
                                    <p:animScale>
                                      <p:cBhvr>
                                        <p:cTn id="38" dur="26">
                                          <p:stCondLst>
                                            <p:cond delay="1642"/>
                                          </p:stCondLst>
                                        </p:cTn>
                                        <p:tgtEl>
                                          <p:spTgt spid="3">
                                            <p:txEl>
                                              <p:pRg st="1" end="1"/>
                                            </p:txEl>
                                          </p:spTgt>
                                        </p:tgtEl>
                                      </p:cBhvr>
                                      <p:to x="100000" y="90000"/>
                                    </p:animScale>
                                    <p:animScale>
                                      <p:cBhvr>
                                        <p:cTn id="39" dur="166" decel="50000">
                                          <p:stCondLst>
                                            <p:cond delay="1668"/>
                                          </p:stCondLst>
                                        </p:cTn>
                                        <p:tgtEl>
                                          <p:spTgt spid="3">
                                            <p:txEl>
                                              <p:pRg st="1" end="1"/>
                                            </p:txEl>
                                          </p:spTgt>
                                        </p:tgtEl>
                                      </p:cBhvr>
                                      <p:to x="100000" y="100000"/>
                                    </p:animScale>
                                    <p:animScale>
                                      <p:cBhvr>
                                        <p:cTn id="40" dur="26">
                                          <p:stCondLst>
                                            <p:cond delay="1808"/>
                                          </p:stCondLst>
                                        </p:cTn>
                                        <p:tgtEl>
                                          <p:spTgt spid="3">
                                            <p:txEl>
                                              <p:pRg st="1" end="1"/>
                                            </p:txEl>
                                          </p:spTgt>
                                        </p:tgtEl>
                                      </p:cBhvr>
                                      <p:to x="100000" y="95000"/>
                                    </p:animScale>
                                    <p:animScale>
                                      <p:cBhvr>
                                        <p:cTn id="41" dur="166" decel="50000">
                                          <p:stCondLst>
                                            <p:cond delay="1834"/>
                                          </p:stCondLst>
                                        </p:cTn>
                                        <p:tgtEl>
                                          <p:spTgt spid="3">
                                            <p:txEl>
                                              <p:pRg st="1" end="1"/>
                                            </p:txEl>
                                          </p:spTgt>
                                        </p:tgtEl>
                                      </p:cBhvr>
                                      <p:to x="100000" y="100000"/>
                                    </p:animScale>
                                  </p:childTnLst>
                                </p:cTn>
                              </p:par>
                              <p:par>
                                <p:cTn id="42" presetID="26" presetClass="entr" presetSubtype="0" fill="hold" nodeType="withEffect">
                                  <p:stCondLst>
                                    <p:cond delay="0"/>
                                  </p:stCondLst>
                                  <p:childTnLst>
                                    <p:set>
                                      <p:cBhvr>
                                        <p:cTn id="43" dur="1" fill="hold">
                                          <p:stCondLst>
                                            <p:cond delay="0"/>
                                          </p:stCondLst>
                                        </p:cTn>
                                        <p:tgtEl>
                                          <p:spTgt spid="3">
                                            <p:txEl>
                                              <p:pRg st="2" end="2"/>
                                            </p:txEl>
                                          </p:spTgt>
                                        </p:tgtEl>
                                        <p:attrNameLst>
                                          <p:attrName>style.visibility</p:attrName>
                                        </p:attrNameLst>
                                      </p:cBhvr>
                                      <p:to>
                                        <p:strVal val="visible"/>
                                      </p:to>
                                    </p:set>
                                    <p:animEffect transition="in" filter="wipe(down)">
                                      <p:cBhvr>
                                        <p:cTn id="44" dur="580">
                                          <p:stCondLst>
                                            <p:cond delay="0"/>
                                          </p:stCondLst>
                                        </p:cTn>
                                        <p:tgtEl>
                                          <p:spTgt spid="3">
                                            <p:txEl>
                                              <p:pRg st="2" end="2"/>
                                            </p:txEl>
                                          </p:spTgt>
                                        </p:tgtEl>
                                      </p:cBhvr>
                                    </p:animEffect>
                                    <p:anim calcmode="lin" valueType="num">
                                      <p:cBhvr>
                                        <p:cTn id="45"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6"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7"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8"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9"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50" dur="26">
                                          <p:stCondLst>
                                            <p:cond delay="650"/>
                                          </p:stCondLst>
                                        </p:cTn>
                                        <p:tgtEl>
                                          <p:spTgt spid="3">
                                            <p:txEl>
                                              <p:pRg st="2" end="2"/>
                                            </p:txEl>
                                          </p:spTgt>
                                        </p:tgtEl>
                                      </p:cBhvr>
                                      <p:to x="100000" y="60000"/>
                                    </p:animScale>
                                    <p:animScale>
                                      <p:cBhvr>
                                        <p:cTn id="51" dur="166" decel="50000">
                                          <p:stCondLst>
                                            <p:cond delay="676"/>
                                          </p:stCondLst>
                                        </p:cTn>
                                        <p:tgtEl>
                                          <p:spTgt spid="3">
                                            <p:txEl>
                                              <p:pRg st="2" end="2"/>
                                            </p:txEl>
                                          </p:spTgt>
                                        </p:tgtEl>
                                      </p:cBhvr>
                                      <p:to x="100000" y="100000"/>
                                    </p:animScale>
                                    <p:animScale>
                                      <p:cBhvr>
                                        <p:cTn id="52" dur="26">
                                          <p:stCondLst>
                                            <p:cond delay="1312"/>
                                          </p:stCondLst>
                                        </p:cTn>
                                        <p:tgtEl>
                                          <p:spTgt spid="3">
                                            <p:txEl>
                                              <p:pRg st="2" end="2"/>
                                            </p:txEl>
                                          </p:spTgt>
                                        </p:tgtEl>
                                      </p:cBhvr>
                                      <p:to x="100000" y="80000"/>
                                    </p:animScale>
                                    <p:animScale>
                                      <p:cBhvr>
                                        <p:cTn id="53" dur="166" decel="50000">
                                          <p:stCondLst>
                                            <p:cond delay="1338"/>
                                          </p:stCondLst>
                                        </p:cTn>
                                        <p:tgtEl>
                                          <p:spTgt spid="3">
                                            <p:txEl>
                                              <p:pRg st="2" end="2"/>
                                            </p:txEl>
                                          </p:spTgt>
                                        </p:tgtEl>
                                      </p:cBhvr>
                                      <p:to x="100000" y="100000"/>
                                    </p:animScale>
                                    <p:animScale>
                                      <p:cBhvr>
                                        <p:cTn id="54" dur="26">
                                          <p:stCondLst>
                                            <p:cond delay="1642"/>
                                          </p:stCondLst>
                                        </p:cTn>
                                        <p:tgtEl>
                                          <p:spTgt spid="3">
                                            <p:txEl>
                                              <p:pRg st="2" end="2"/>
                                            </p:txEl>
                                          </p:spTgt>
                                        </p:tgtEl>
                                      </p:cBhvr>
                                      <p:to x="100000" y="90000"/>
                                    </p:animScale>
                                    <p:animScale>
                                      <p:cBhvr>
                                        <p:cTn id="55" dur="166" decel="50000">
                                          <p:stCondLst>
                                            <p:cond delay="1668"/>
                                          </p:stCondLst>
                                        </p:cTn>
                                        <p:tgtEl>
                                          <p:spTgt spid="3">
                                            <p:txEl>
                                              <p:pRg st="2" end="2"/>
                                            </p:txEl>
                                          </p:spTgt>
                                        </p:tgtEl>
                                      </p:cBhvr>
                                      <p:to x="100000" y="100000"/>
                                    </p:animScale>
                                    <p:animScale>
                                      <p:cBhvr>
                                        <p:cTn id="56" dur="26">
                                          <p:stCondLst>
                                            <p:cond delay="1808"/>
                                          </p:stCondLst>
                                        </p:cTn>
                                        <p:tgtEl>
                                          <p:spTgt spid="3">
                                            <p:txEl>
                                              <p:pRg st="2" end="2"/>
                                            </p:txEl>
                                          </p:spTgt>
                                        </p:tgtEl>
                                      </p:cBhvr>
                                      <p:to x="100000" y="95000"/>
                                    </p:animScale>
                                    <p:animScale>
                                      <p:cBhvr>
                                        <p:cTn id="57" dur="166" decel="50000">
                                          <p:stCondLst>
                                            <p:cond delay="1834"/>
                                          </p:stCondLst>
                                        </p:cTn>
                                        <p:tgtEl>
                                          <p:spTgt spid="3">
                                            <p:txEl>
                                              <p:pRg st="2" end="2"/>
                                            </p:txEl>
                                          </p:spTgt>
                                        </p:tgtEl>
                                      </p:cBhvr>
                                      <p:to x="100000" y="100000"/>
                                    </p:animScale>
                                  </p:childTnLst>
                                </p:cTn>
                              </p:par>
                              <p:par>
                                <p:cTn id="58" presetID="26" presetClass="entr" presetSubtype="0" fill="hold" nodeType="withEffect">
                                  <p:stCondLst>
                                    <p:cond delay="0"/>
                                  </p:stCondLst>
                                  <p:childTnLst>
                                    <p:set>
                                      <p:cBhvr>
                                        <p:cTn id="59" dur="1" fill="hold">
                                          <p:stCondLst>
                                            <p:cond delay="0"/>
                                          </p:stCondLst>
                                        </p:cTn>
                                        <p:tgtEl>
                                          <p:spTgt spid="3">
                                            <p:txEl>
                                              <p:pRg st="3" end="3"/>
                                            </p:txEl>
                                          </p:spTgt>
                                        </p:tgtEl>
                                        <p:attrNameLst>
                                          <p:attrName>style.visibility</p:attrName>
                                        </p:attrNameLst>
                                      </p:cBhvr>
                                      <p:to>
                                        <p:strVal val="visible"/>
                                      </p:to>
                                    </p:set>
                                    <p:animEffect transition="in" filter="wipe(down)">
                                      <p:cBhvr>
                                        <p:cTn id="60" dur="580">
                                          <p:stCondLst>
                                            <p:cond delay="0"/>
                                          </p:stCondLst>
                                        </p:cTn>
                                        <p:tgtEl>
                                          <p:spTgt spid="3">
                                            <p:txEl>
                                              <p:pRg st="3" end="3"/>
                                            </p:txEl>
                                          </p:spTgt>
                                        </p:tgtEl>
                                      </p:cBhvr>
                                    </p:animEffect>
                                    <p:anim calcmode="lin" valueType="num">
                                      <p:cBhvr>
                                        <p:cTn id="61"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2"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3"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4"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5"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6" dur="26">
                                          <p:stCondLst>
                                            <p:cond delay="650"/>
                                          </p:stCondLst>
                                        </p:cTn>
                                        <p:tgtEl>
                                          <p:spTgt spid="3">
                                            <p:txEl>
                                              <p:pRg st="3" end="3"/>
                                            </p:txEl>
                                          </p:spTgt>
                                        </p:tgtEl>
                                      </p:cBhvr>
                                      <p:to x="100000" y="60000"/>
                                    </p:animScale>
                                    <p:animScale>
                                      <p:cBhvr>
                                        <p:cTn id="67" dur="166" decel="50000">
                                          <p:stCondLst>
                                            <p:cond delay="676"/>
                                          </p:stCondLst>
                                        </p:cTn>
                                        <p:tgtEl>
                                          <p:spTgt spid="3">
                                            <p:txEl>
                                              <p:pRg st="3" end="3"/>
                                            </p:txEl>
                                          </p:spTgt>
                                        </p:tgtEl>
                                      </p:cBhvr>
                                      <p:to x="100000" y="100000"/>
                                    </p:animScale>
                                    <p:animScale>
                                      <p:cBhvr>
                                        <p:cTn id="68" dur="26">
                                          <p:stCondLst>
                                            <p:cond delay="1312"/>
                                          </p:stCondLst>
                                        </p:cTn>
                                        <p:tgtEl>
                                          <p:spTgt spid="3">
                                            <p:txEl>
                                              <p:pRg st="3" end="3"/>
                                            </p:txEl>
                                          </p:spTgt>
                                        </p:tgtEl>
                                      </p:cBhvr>
                                      <p:to x="100000" y="80000"/>
                                    </p:animScale>
                                    <p:animScale>
                                      <p:cBhvr>
                                        <p:cTn id="69" dur="166" decel="50000">
                                          <p:stCondLst>
                                            <p:cond delay="1338"/>
                                          </p:stCondLst>
                                        </p:cTn>
                                        <p:tgtEl>
                                          <p:spTgt spid="3">
                                            <p:txEl>
                                              <p:pRg st="3" end="3"/>
                                            </p:txEl>
                                          </p:spTgt>
                                        </p:tgtEl>
                                      </p:cBhvr>
                                      <p:to x="100000" y="100000"/>
                                    </p:animScale>
                                    <p:animScale>
                                      <p:cBhvr>
                                        <p:cTn id="70" dur="26">
                                          <p:stCondLst>
                                            <p:cond delay="1642"/>
                                          </p:stCondLst>
                                        </p:cTn>
                                        <p:tgtEl>
                                          <p:spTgt spid="3">
                                            <p:txEl>
                                              <p:pRg st="3" end="3"/>
                                            </p:txEl>
                                          </p:spTgt>
                                        </p:tgtEl>
                                      </p:cBhvr>
                                      <p:to x="100000" y="90000"/>
                                    </p:animScale>
                                    <p:animScale>
                                      <p:cBhvr>
                                        <p:cTn id="71" dur="166" decel="50000">
                                          <p:stCondLst>
                                            <p:cond delay="1668"/>
                                          </p:stCondLst>
                                        </p:cTn>
                                        <p:tgtEl>
                                          <p:spTgt spid="3">
                                            <p:txEl>
                                              <p:pRg st="3" end="3"/>
                                            </p:txEl>
                                          </p:spTgt>
                                        </p:tgtEl>
                                      </p:cBhvr>
                                      <p:to x="100000" y="100000"/>
                                    </p:animScale>
                                    <p:animScale>
                                      <p:cBhvr>
                                        <p:cTn id="72" dur="26">
                                          <p:stCondLst>
                                            <p:cond delay="1808"/>
                                          </p:stCondLst>
                                        </p:cTn>
                                        <p:tgtEl>
                                          <p:spTgt spid="3">
                                            <p:txEl>
                                              <p:pRg st="3" end="3"/>
                                            </p:txEl>
                                          </p:spTgt>
                                        </p:tgtEl>
                                      </p:cBhvr>
                                      <p:to x="100000" y="95000"/>
                                    </p:animScale>
                                    <p:animScale>
                                      <p:cBhvr>
                                        <p:cTn id="73" dur="166" decel="50000">
                                          <p:stCondLst>
                                            <p:cond delay="1834"/>
                                          </p:stCondLst>
                                        </p:cTn>
                                        <p:tgtEl>
                                          <p:spTgt spid="3">
                                            <p:txEl>
                                              <p:pRg st="3" end="3"/>
                                            </p:txEl>
                                          </p:spTgt>
                                        </p:tgtEl>
                                      </p:cBhvr>
                                      <p:to x="100000" y="100000"/>
                                    </p:animScale>
                                  </p:childTnLst>
                                </p:cTn>
                              </p:par>
                              <p:par>
                                <p:cTn id="74" presetID="26" presetClass="entr" presetSubtype="0" fill="hold" nodeType="withEffect">
                                  <p:stCondLst>
                                    <p:cond delay="0"/>
                                  </p:stCondLst>
                                  <p:childTnLst>
                                    <p:set>
                                      <p:cBhvr>
                                        <p:cTn id="75" dur="1" fill="hold">
                                          <p:stCondLst>
                                            <p:cond delay="0"/>
                                          </p:stCondLst>
                                        </p:cTn>
                                        <p:tgtEl>
                                          <p:spTgt spid="3">
                                            <p:txEl>
                                              <p:pRg st="4" end="4"/>
                                            </p:txEl>
                                          </p:spTgt>
                                        </p:tgtEl>
                                        <p:attrNameLst>
                                          <p:attrName>style.visibility</p:attrName>
                                        </p:attrNameLst>
                                      </p:cBhvr>
                                      <p:to>
                                        <p:strVal val="visible"/>
                                      </p:to>
                                    </p:set>
                                    <p:animEffect transition="in" filter="wipe(down)">
                                      <p:cBhvr>
                                        <p:cTn id="76" dur="580">
                                          <p:stCondLst>
                                            <p:cond delay="0"/>
                                          </p:stCondLst>
                                        </p:cTn>
                                        <p:tgtEl>
                                          <p:spTgt spid="3">
                                            <p:txEl>
                                              <p:pRg st="4" end="4"/>
                                            </p:txEl>
                                          </p:spTgt>
                                        </p:tgtEl>
                                      </p:cBhvr>
                                    </p:animEffect>
                                    <p:anim calcmode="lin" valueType="num">
                                      <p:cBhvr>
                                        <p:cTn id="77"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78"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79"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80"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81"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82" dur="26">
                                          <p:stCondLst>
                                            <p:cond delay="650"/>
                                          </p:stCondLst>
                                        </p:cTn>
                                        <p:tgtEl>
                                          <p:spTgt spid="3">
                                            <p:txEl>
                                              <p:pRg st="4" end="4"/>
                                            </p:txEl>
                                          </p:spTgt>
                                        </p:tgtEl>
                                      </p:cBhvr>
                                      <p:to x="100000" y="60000"/>
                                    </p:animScale>
                                    <p:animScale>
                                      <p:cBhvr>
                                        <p:cTn id="83" dur="166" decel="50000">
                                          <p:stCondLst>
                                            <p:cond delay="676"/>
                                          </p:stCondLst>
                                        </p:cTn>
                                        <p:tgtEl>
                                          <p:spTgt spid="3">
                                            <p:txEl>
                                              <p:pRg st="4" end="4"/>
                                            </p:txEl>
                                          </p:spTgt>
                                        </p:tgtEl>
                                      </p:cBhvr>
                                      <p:to x="100000" y="100000"/>
                                    </p:animScale>
                                    <p:animScale>
                                      <p:cBhvr>
                                        <p:cTn id="84" dur="26">
                                          <p:stCondLst>
                                            <p:cond delay="1312"/>
                                          </p:stCondLst>
                                        </p:cTn>
                                        <p:tgtEl>
                                          <p:spTgt spid="3">
                                            <p:txEl>
                                              <p:pRg st="4" end="4"/>
                                            </p:txEl>
                                          </p:spTgt>
                                        </p:tgtEl>
                                      </p:cBhvr>
                                      <p:to x="100000" y="80000"/>
                                    </p:animScale>
                                    <p:animScale>
                                      <p:cBhvr>
                                        <p:cTn id="85" dur="166" decel="50000">
                                          <p:stCondLst>
                                            <p:cond delay="1338"/>
                                          </p:stCondLst>
                                        </p:cTn>
                                        <p:tgtEl>
                                          <p:spTgt spid="3">
                                            <p:txEl>
                                              <p:pRg st="4" end="4"/>
                                            </p:txEl>
                                          </p:spTgt>
                                        </p:tgtEl>
                                      </p:cBhvr>
                                      <p:to x="100000" y="100000"/>
                                    </p:animScale>
                                    <p:animScale>
                                      <p:cBhvr>
                                        <p:cTn id="86" dur="26">
                                          <p:stCondLst>
                                            <p:cond delay="1642"/>
                                          </p:stCondLst>
                                        </p:cTn>
                                        <p:tgtEl>
                                          <p:spTgt spid="3">
                                            <p:txEl>
                                              <p:pRg st="4" end="4"/>
                                            </p:txEl>
                                          </p:spTgt>
                                        </p:tgtEl>
                                      </p:cBhvr>
                                      <p:to x="100000" y="90000"/>
                                    </p:animScale>
                                    <p:animScale>
                                      <p:cBhvr>
                                        <p:cTn id="87" dur="166" decel="50000">
                                          <p:stCondLst>
                                            <p:cond delay="1668"/>
                                          </p:stCondLst>
                                        </p:cTn>
                                        <p:tgtEl>
                                          <p:spTgt spid="3">
                                            <p:txEl>
                                              <p:pRg st="4" end="4"/>
                                            </p:txEl>
                                          </p:spTgt>
                                        </p:tgtEl>
                                      </p:cBhvr>
                                      <p:to x="100000" y="100000"/>
                                    </p:animScale>
                                    <p:animScale>
                                      <p:cBhvr>
                                        <p:cTn id="88" dur="26">
                                          <p:stCondLst>
                                            <p:cond delay="1808"/>
                                          </p:stCondLst>
                                        </p:cTn>
                                        <p:tgtEl>
                                          <p:spTgt spid="3">
                                            <p:txEl>
                                              <p:pRg st="4" end="4"/>
                                            </p:txEl>
                                          </p:spTgt>
                                        </p:tgtEl>
                                      </p:cBhvr>
                                      <p:to x="100000" y="95000"/>
                                    </p:animScale>
                                    <p:animScale>
                                      <p:cBhvr>
                                        <p:cTn id="89" dur="166" decel="50000">
                                          <p:stCondLst>
                                            <p:cond delay="1834"/>
                                          </p:stCondLst>
                                        </p:cTn>
                                        <p:tgtEl>
                                          <p:spTgt spid="3">
                                            <p:txEl>
                                              <p:pRg st="4" end="4"/>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5E85B10-D0DE-AB98-74A8-834FD79A258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534332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9C9275B-1E7E-409A-9467-302622C468D2}">
  <ds:schemaRefs>
    <ds:schemaRef ds:uri="http://schemas.microsoft.com/sharepoint/v3/contenttype/forms"/>
  </ds:schemaRefs>
</ds:datastoreItem>
</file>

<file path=customXml/itemProps2.xml><?xml version="1.0" encoding="utf-8"?>
<ds:datastoreItem xmlns:ds="http://schemas.openxmlformats.org/officeDocument/2006/customXml" ds:itemID="{38E52988-C458-4121-9BF8-864CDB291D44}">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ABA7D41-7EBD-45D7-AFB8-22EF4BFA6BA2}">
  <ds:schemaRefs>
    <ds:schemaRef ds:uri="71af3243-3dd4-4a8d-8c0d-dd76da1f02a5"/>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Facet</Template>
  <TotalTime>0</TotalTime>
  <Words>1028</Words>
  <Application>Microsoft Office PowerPoint</Application>
  <PresentationFormat>Widescreen</PresentationFormat>
  <Paragraphs>110</Paragraphs>
  <Slides>15</Slides>
  <Notes>6</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15</vt:i4>
      </vt:variant>
    </vt:vector>
  </HeadingPairs>
  <TitlesOfParts>
    <vt:vector size="31" baseType="lpstr">
      <vt:lpstr>Arial</vt:lpstr>
      <vt:lpstr>Arial Rounded MT Bold</vt:lpstr>
      <vt:lpstr>Badoni MT</vt:lpstr>
      <vt:lpstr>Bahnschrift Light</vt:lpstr>
      <vt:lpstr>Bahnschrift SemiBold</vt:lpstr>
      <vt:lpstr>Baskerville Old Face</vt:lpstr>
      <vt:lpstr>Bodoni MT</vt:lpstr>
      <vt:lpstr>Calibri</vt:lpstr>
      <vt:lpstr>Copperplate Gothic Bold</vt:lpstr>
      <vt:lpstr>Courier New</vt:lpstr>
      <vt:lpstr>Goudy Old Style</vt:lpstr>
      <vt:lpstr>Open Sans</vt:lpstr>
      <vt:lpstr>Trebuchet MS</vt:lpstr>
      <vt:lpstr>Unbounded Bold</vt:lpstr>
      <vt:lpstr>Wingdings 3</vt:lpstr>
      <vt:lpstr>Facet</vt:lpstr>
      <vt:lpstr>Kakinada Institute of engineering &amp; technology department of cse – artificial intelligence and data science</vt:lpstr>
      <vt:lpstr>PowerPoint Presentation</vt:lpstr>
      <vt:lpstr>PowerPoint Presentation</vt:lpstr>
      <vt:lpstr>ABSTRACT</vt:lpstr>
      <vt:lpstr>PowerPoint Presentation</vt:lpstr>
      <vt:lpstr>EXISTING SYSTEMS : The Need for Specialization</vt:lpstr>
      <vt:lpstr>PowerPoint Presentation</vt:lpstr>
      <vt:lpstr>PowerPoint Presentation</vt:lpstr>
      <vt:lpstr>PowerPoint Presentation</vt:lpstr>
      <vt:lpstr>                 SYSTEM MODULES:</vt:lpstr>
      <vt:lpstr>PowerPoint Presentation</vt:lpstr>
      <vt:lpstr>INPUT &amp; OUTPUT SCREENS:</vt:lpstr>
      <vt:lpstr>CONCLUSION</vt:lpstr>
      <vt:lpstr>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srivalli tamada</dc:creator>
  <cp:lastModifiedBy>UMA MAHESWARA RAO SAKHA</cp:lastModifiedBy>
  <cp:revision>6</cp:revision>
  <dcterms:created xsi:type="dcterms:W3CDTF">2025-12-21T05:47:52Z</dcterms:created>
  <dcterms:modified xsi:type="dcterms:W3CDTF">2026-01-20T05:57:57Z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